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7" r:id="rId4"/>
    <p:sldMasterId id="214748371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Inter SemiBold"/>
      <p:regular r:id="rId36"/>
      <p:bold r:id="rId37"/>
      <p:italic r:id="rId38"/>
      <p:boldItalic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4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6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5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8.xml"/><Relationship Id="rId46" Type="http://schemas.openxmlformats.org/officeDocument/2006/relationships/font" Target="fonts/InterMedium-italic.fntdata"/><Relationship Id="rId23" Type="http://schemas.openxmlformats.org/officeDocument/2006/relationships/slide" Target="slides/slide17.xml"/><Relationship Id="rId45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Inter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InterSemiBold-bold.fntdata"/><Relationship Id="rId14" Type="http://schemas.openxmlformats.org/officeDocument/2006/relationships/slide" Target="slides/slide8.xml"/><Relationship Id="rId36" Type="http://schemas.openxmlformats.org/officeDocument/2006/relationships/font" Target="fonts/Inter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Inter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876275a5a_5_3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6876275a5a_5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876275a5a_5_4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6876275a5a_5_4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876275a5a_5_4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6876275a5a_5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e4e7b0959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6e4e7b095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6e4e7b095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6e4e7b095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e4e7b0959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6e4e7b0959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6e62a6b4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6e62a6b4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srmt основана на gpt2. Запрашиваем в модели веса внимания при прогоне gpt2. Отделяем выход, который алгоритм обрабатывал изначально от весов внимания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e62a6b4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6e62a6b4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Записываем веса в дополнительные выводы, в словарь вместе с другими доп. выводами. Дальше они окажутся в логах, которые будем парсить.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6e62a6b45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6e62a6b45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логах используются относительные координаты от начальной позиции агента. Так от робота скрывается среда и положение других агентов. Однако парсить это сложнее. Начальные положения можно стянуть с других логов.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e62a6b45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6e62a6b45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анализа подготовлены карты движения агентов и хитмапы. Все сделано с помощью plotly. Все интерактивно, управляется слайдером. Верхняя строка и красный цвет – первый агент, нижняя строка и синий – второй.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6e4e7b0959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6e4e7b0959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a1f943794_5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6a1f943794_5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e4e7b0959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6e4e7b0959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62f6b04671_5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62f6b04671_5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e4e7b0959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6e4e7b0959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6e4e7b0959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6e4e7b0959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62f6b04671_58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62f6b04671_58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62f6b04671_58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62f6b04671_58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62f6b04671_58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62f6b04671_58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6e4e7b0959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6e4e7b0959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e5e3ea3e9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6e5e3ea3e9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6e62a6b45c_4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6e62a6b45c_4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6e62a6b45c_4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6e62a6b45c_4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6e62a6b45c_4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6e62a6b45c_4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6e5e3ea3e9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6e5e3ea3e9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6e62a6b45c_4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6e62a6b45c_4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62f6b04671_58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62f6b04671_58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62f6b04671_58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62f6b04671_58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62f6b04671_58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62f6b04671_58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1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7.png"/><Relationship Id="rId3" Type="http://schemas.openxmlformats.org/officeDocument/2006/relationships/image" Target="../media/image2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2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2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2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1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1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2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7.png"/><Relationship Id="rId3" Type="http://schemas.openxmlformats.org/officeDocument/2006/relationships/image" Target="../media/image2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2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Relationship Id="rId3" Type="http://schemas.openxmlformats.org/officeDocument/2006/relationships/image" Target="../media/image2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2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струкция 2">
  <p:cSld name="Инструкция 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&#10;&#10;Автоматически созданное описание"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50000" t="30371"/>
          <a:stretch/>
        </p:blipFill>
        <p:spPr>
          <a:xfrm>
            <a:off x="0" y="1505887"/>
            <a:ext cx="4572000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4839180" y="1674692"/>
            <a:ext cx="37800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Если текст слева сложно прочесть из-за того, что буквы дублируются и наезжают друг на друга, значит на компьютере не установлен шрифт Inter.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Файл с шрифтом был выслан вместе с этим шаблоном. Обязательно перезагрузите MS Office, чтобы все заработало.</a:t>
            </a:r>
            <a:b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 по установке шрифтов </a:t>
            </a:r>
            <a:b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 найдете в pdf «Установка шрифтов».</a:t>
            </a:r>
            <a:endParaRPr b="0" i="0" sz="1400" u="none" cap="none" strike="noStrike">
              <a:solidFill>
                <a:srgbClr val="3ED0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611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521494" y="546497"/>
            <a:ext cx="8100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b="0" i="0" lang="ru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Перед работой с шаблоном проверьте, установлен ли </a:t>
            </a:r>
            <a:br>
              <a:rPr b="0" i="0" lang="ru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 вас фирменный шрифт Inter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4842506" y="4179326"/>
            <a:ext cx="377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Не забудьте удалить этот слайд </a:t>
            </a:r>
            <a:br>
              <a:rPr b="0" i="0" lang="ru" sz="1400" u="none" cap="none" strike="noStrike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400" u="none" cap="none" strike="noStrike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и предыдущие, если все получилось ☺</a:t>
            </a:r>
            <a:endParaRPr b="0" i="0" sz="1400" u="none" cap="none" strike="noStrike">
              <a:solidFill>
                <a:srgbClr val="8296B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струкция 1">
  <p:cSld name="Инструкция 1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/>
        </p:nvSpPr>
        <p:spPr>
          <a:xfrm>
            <a:off x="521494" y="536008"/>
            <a:ext cx="24039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Создавая новые слайды,</a:t>
            </a:r>
            <a:b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применяйте к ним </a:t>
            </a:r>
            <a:b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правильный стиль. 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Для этого нужно </a:t>
            </a:r>
            <a:b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 каждому слайду применить определенный тип макета </a:t>
            </a:r>
            <a:br>
              <a:rPr b="0" i="0" lang="ru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ru" sz="12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 помощью раздела «Макет» (вкладка меню «Главная»)</a:t>
            </a:r>
            <a:endParaRPr sz="1100"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611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61963" y="546497"/>
            <a:ext cx="5460542" cy="4049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bg>
      <p:bgPr>
        <a:solidFill>
          <a:schemeClr val="accen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1" name="Google Shape;21;p4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1</a:t>
            </a:r>
            <a:endParaRPr sz="1100"/>
          </a:p>
        </p:txBody>
      </p:sp>
      <p:sp>
        <p:nvSpPr>
          <p:cNvPr id="22" name="Google Shape;22;p4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Титульный слайд 2">
    <p:bg>
      <p:bgPr>
        <a:solidFill>
          <a:schemeClr val="accen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8" name="Google Shape;28;p5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2</a:t>
            </a:r>
            <a:endParaRPr sz="1100"/>
          </a:p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ьный слайд 3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6" name="Google Shape;36;p6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3</a:t>
            </a:r>
            <a:endParaRPr sz="1100"/>
          </a:p>
        </p:txBody>
      </p:sp>
      <p:pic>
        <p:nvPicPr>
          <p:cNvPr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4">
  <p:cSld name="Титульный слайд 4">
    <p:bg>
      <p:bgPr>
        <a:solidFill>
          <a:srgbClr val="F5ECE5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45" name="Google Shape;45;p7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1</a:t>
            </a:r>
            <a:endParaRPr sz="1100"/>
          </a:p>
        </p:txBody>
      </p:sp>
      <p:sp>
        <p:nvSpPr>
          <p:cNvPr id="46" name="Google Shape;46;p7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5">
  <p:cSld name="Титульный слайд 5">
    <p:bg>
      <p:bgPr>
        <a:solidFill>
          <a:srgbClr val="F5ECE5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52" name="Google Shape;52;p8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2</a:t>
            </a:r>
            <a:endParaRPr sz="1100"/>
          </a:p>
        </p:txBody>
      </p:sp>
      <p:sp>
        <p:nvSpPr>
          <p:cNvPr id="53" name="Google Shape;53;p8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6">
  <p:cSld name="Титульный слайд 6">
    <p:bg>
      <p:bgPr>
        <a:solidFill>
          <a:srgbClr val="F5ECE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60" name="Google Shape;60;p9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3</a:t>
            </a:r>
            <a:endParaRPr sz="1100"/>
          </a:p>
        </p:txBody>
      </p:sp>
      <p:sp>
        <p:nvSpPr>
          <p:cNvPr id="61" name="Google Shape;61;p9"/>
          <p:cNvSpPr txBox="1"/>
          <p:nvPr>
            <p:ph type="ctrTitle"/>
          </p:nvPr>
        </p:nvSpPr>
        <p:spPr>
          <a:xfrm>
            <a:off x="521494" y="1552575"/>
            <a:ext cx="40506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21493" y="3860925"/>
            <a:ext cx="405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521493" y="4245936"/>
            <a:ext cx="4050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 (2 спикера)">
  <p:cSld name="Титульный слайд 1 (2 спикера)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68" name="Google Shape;68;p10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69" name="Google Shape;69;p10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1, 2 докладчика</a:t>
            </a:r>
            <a:endParaRPr sz="1100"/>
          </a:p>
        </p:txBody>
      </p:sp>
      <p:sp>
        <p:nvSpPr>
          <p:cNvPr id="70" name="Google Shape;70;p10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 (2 спикера)">
  <p:cSld name="Титульный слайд 2 (2 спикера)">
    <p:bg>
      <p:bgPr>
        <a:solidFill>
          <a:schemeClr val="accen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79" name="Google Shape;79;p11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3, 2 докладчика</a:t>
            </a:r>
            <a:endParaRPr sz="1100"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 (2 спикера)">
  <p:cSld name="Титульный слайд 3 (2 спикера)">
    <p:bg>
      <p:bgPr>
        <a:solidFill>
          <a:schemeClr val="accen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89" name="Google Shape;89;p12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4, 2 докладчика</a:t>
            </a:r>
            <a:endParaRPr sz="1100"/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377"/>
            <a:ext cx="3498344" cy="4591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4 (2 спикера)">
  <p:cSld name="Титульный слайд 4 (2 спикера)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99" name="Google Shape;99;p13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100" name="Google Shape;100;p13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1, 2 докладчика</a:t>
            </a:r>
            <a:endParaRPr sz="1100"/>
          </a:p>
        </p:txBody>
      </p:sp>
      <p:sp>
        <p:nvSpPr>
          <p:cNvPr id="101" name="Google Shape;101;p13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5 (2 спикера)">
  <p:cSld name="Титульный слайд 5 (2 спикера)">
    <p:bg>
      <p:bgPr>
        <a:solidFill>
          <a:srgbClr val="F5ECE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110" name="Google Shape;110;p14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3, 2 докладчика</a:t>
            </a:r>
            <a:endParaRPr sz="1100"/>
          </a:p>
        </p:txBody>
      </p:sp>
      <p:sp>
        <p:nvSpPr>
          <p:cNvPr id="111" name="Google Shape;111;p14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6 (2 спикера)">
  <p:cSld name="Титульный слайд 6 (2 спикера)">
    <p:bg>
      <p:bgPr>
        <a:solidFill>
          <a:srgbClr val="F5ECE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120" name="Google Shape;120;p15"/>
          <p:cNvSpPr txBox="1"/>
          <p:nvPr/>
        </p:nvSpPr>
        <p:spPr>
          <a:xfrm>
            <a:off x="2681790" y="-553076"/>
            <a:ext cx="272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 4, 2 докладчика</a:t>
            </a:r>
            <a:endParaRPr sz="1100"/>
          </a:p>
        </p:txBody>
      </p:sp>
      <p:sp>
        <p:nvSpPr>
          <p:cNvPr id="121" name="Google Shape;121;p15"/>
          <p:cNvSpPr txBox="1"/>
          <p:nvPr>
            <p:ph type="ctrTitle"/>
          </p:nvPr>
        </p:nvSpPr>
        <p:spPr>
          <a:xfrm>
            <a:off x="521494" y="2855718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21493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521493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3" type="body"/>
          </p:nvPr>
        </p:nvSpPr>
        <p:spPr>
          <a:xfrm>
            <a:off x="2681790" y="3860925"/>
            <a:ext cx="189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2681790" y="4245936"/>
            <a:ext cx="1890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31" y="564528"/>
            <a:ext cx="3498344" cy="4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1">
  <p:cSld name="Agenda_1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2681790" y="-553076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Пример слайда с содержанием презентации.</a:t>
            </a:r>
            <a:endParaRPr sz="1100"/>
          </a:p>
        </p:txBody>
      </p:sp>
      <p:sp>
        <p:nvSpPr>
          <p:cNvPr id="129" name="Google Shape;129;p16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521494" y="1098345"/>
            <a:ext cx="334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b="0" i="0" sz="30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1" name="Google Shape;131;p16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2">
  <p:cSld name="Agenda_2">
    <p:bg>
      <p:bgPr>
        <a:solidFill>
          <a:srgbClr val="F5ECE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2681790" y="-553076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Пример слайда с содержанием презентации.</a:t>
            </a:r>
            <a:endParaRPr sz="1100"/>
          </a:p>
        </p:txBody>
      </p:sp>
      <p:sp>
        <p:nvSpPr>
          <p:cNvPr id="134" name="Google Shape;134;p17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521494" y="1098345"/>
            <a:ext cx="334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b="0" i="0" sz="30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6" name="Google Shape;136;p17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_1">
  <p:cSld name="Section divider_1"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2681790" y="-553076"/>
            <a:ext cx="291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</a:t>
            </a: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</p:txBody>
      </p:sp>
      <p:sp>
        <p:nvSpPr>
          <p:cNvPr id="140" name="Google Shape;140;p18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41" name="Google Shape;141;p18"/>
          <p:cNvSpPr txBox="1"/>
          <p:nvPr>
            <p:ph type="title"/>
          </p:nvPr>
        </p:nvSpPr>
        <p:spPr>
          <a:xfrm>
            <a:off x="521494" y="2294751"/>
            <a:ext cx="59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b="0" i="0" sz="3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521494" y="546497"/>
            <a:ext cx="12576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  <a:defRPr b="0" i="0" sz="9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8"/>
          <p:cNvSpPr txBox="1"/>
          <p:nvPr/>
        </p:nvSpPr>
        <p:spPr>
          <a:xfrm>
            <a:off x="5229047" y="-575685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Здесь разные паттерны из точек</a:t>
            </a:r>
            <a:endParaRPr sz="1100"/>
          </a:p>
        </p:txBody>
      </p:sp>
      <p:sp>
        <p:nvSpPr>
          <p:cNvPr id="145" name="Google Shape;145;p18"/>
          <p:cNvSpPr txBox="1"/>
          <p:nvPr/>
        </p:nvSpPr>
        <p:spPr>
          <a:xfrm>
            <a:off x="9392856" y="2482769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_2">
  <p:cSld name="Section divider_2">
    <p:bg>
      <p:bgPr>
        <a:solidFill>
          <a:schemeClr val="accen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2681790" y="-553076"/>
            <a:ext cx="291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</a:t>
            </a: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</p:txBody>
      </p:sp>
      <p:sp>
        <p:nvSpPr>
          <p:cNvPr id="149" name="Google Shape;149;p19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521494" y="2294751"/>
            <a:ext cx="59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b="0" i="0" sz="3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521494" y="546497"/>
            <a:ext cx="12576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  <a:defRPr b="0" i="0" sz="9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>
            <a:off x="5229047" y="-575685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Здесь разные паттерны из точек</a:t>
            </a:r>
            <a:endParaRPr sz="1100"/>
          </a:p>
        </p:txBody>
      </p:sp>
      <p:sp>
        <p:nvSpPr>
          <p:cNvPr id="154" name="Google Shape;154;p19"/>
          <p:cNvSpPr txBox="1"/>
          <p:nvPr/>
        </p:nvSpPr>
        <p:spPr>
          <a:xfrm>
            <a:off x="9392856" y="2482769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_3">
  <p:cSld name="Section divider_3">
    <p:bg>
      <p:bgPr>
        <a:solidFill>
          <a:schemeClr val="accen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2681790" y="-553076"/>
            <a:ext cx="291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</a:t>
            </a: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</p:txBody>
      </p:sp>
      <p:sp>
        <p:nvSpPr>
          <p:cNvPr id="158" name="Google Shape;158;p20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521494" y="2294751"/>
            <a:ext cx="59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0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60" name="Google Shape;160;p20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521494" y="546497"/>
            <a:ext cx="12576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  <a:defRPr b="0" i="0" sz="9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0"/>
          <p:cNvSpPr txBox="1"/>
          <p:nvPr/>
        </p:nvSpPr>
        <p:spPr>
          <a:xfrm>
            <a:off x="5229047" y="-575685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Здесь разные паттерны из точек</a:t>
            </a:r>
            <a:endParaRPr sz="1100"/>
          </a:p>
        </p:txBody>
      </p:sp>
      <p:sp>
        <p:nvSpPr>
          <p:cNvPr id="163" name="Google Shape;163;p20"/>
          <p:cNvSpPr txBox="1"/>
          <p:nvPr/>
        </p:nvSpPr>
        <p:spPr>
          <a:xfrm>
            <a:off x="9392856" y="2482769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_4">
  <p:cSld name="Section divider_4">
    <p:bg>
      <p:bgPr>
        <a:solidFill>
          <a:schemeClr val="accen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2681790" y="-553076"/>
            <a:ext cx="291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</a:t>
            </a: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</p:txBody>
      </p:sp>
      <p:sp>
        <p:nvSpPr>
          <p:cNvPr id="167" name="Google Shape;167;p21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521494" y="2294751"/>
            <a:ext cx="59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0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69" name="Google Shape;169;p21"/>
          <p:cNvSpPr/>
          <p:nvPr/>
        </p:nvSpPr>
        <p:spPr>
          <a:xfrm>
            <a:off x="521494" y="1878512"/>
            <a:ext cx="1257600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521494" y="546497"/>
            <a:ext cx="12576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  <a:defRPr b="0" i="0" sz="9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21"/>
          <p:cNvSpPr txBox="1"/>
          <p:nvPr/>
        </p:nvSpPr>
        <p:spPr>
          <a:xfrm>
            <a:off x="5229047" y="-575685"/>
            <a:ext cx="2916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8296B0"/>
                </a:solidFill>
                <a:latin typeface="Inter"/>
                <a:ea typeface="Inter"/>
                <a:cs typeface="Inter"/>
                <a:sym typeface="Inter"/>
              </a:rPr>
              <a:t>Здесь разные паттерны из точек</a:t>
            </a:r>
            <a:endParaRPr sz="1100"/>
          </a:p>
        </p:txBody>
      </p:sp>
      <p:sp>
        <p:nvSpPr>
          <p:cNvPr id="172" name="Google Shape;172;p21"/>
          <p:cNvSpPr txBox="1"/>
          <p:nvPr/>
        </p:nvSpPr>
        <p:spPr>
          <a:xfrm>
            <a:off x="9392856" y="2482769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_1">
  <p:cSld name="Highlight_1">
    <p:bg>
      <p:bgPr>
        <a:solidFill>
          <a:schemeClr val="accen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>
            <p:ph type="title"/>
          </p:nvPr>
        </p:nvSpPr>
        <p:spPr>
          <a:xfrm>
            <a:off x="521493" y="546497"/>
            <a:ext cx="7008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_3">
  <p:cSld name="Highlight_3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>
            <p:ph type="title"/>
          </p:nvPr>
        </p:nvSpPr>
        <p:spPr>
          <a:xfrm>
            <a:off x="521493" y="546497"/>
            <a:ext cx="7008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_2">
  <p:cSld name="Highlight_2">
    <p:bg>
      <p:bgPr>
        <a:solidFill>
          <a:schemeClr val="accen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>
            <p:ph type="title"/>
          </p:nvPr>
        </p:nvSpPr>
        <p:spPr>
          <a:xfrm>
            <a:off x="521493" y="546497"/>
            <a:ext cx="7008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Image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184" name="Google Shape;18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299" y="4808278"/>
            <a:ext cx="1635194" cy="21515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1 column">
  <p:cSld name="Text 1 column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299" y="4808278"/>
            <a:ext cx="1635194" cy="21515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521494" y="1357004"/>
            <a:ext cx="81009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2 columns">
  <p:cSld name="Text 2 columns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521493" y="1357004"/>
            <a:ext cx="378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2" type="body"/>
          </p:nvPr>
        </p:nvSpPr>
        <p:spPr>
          <a:xfrm>
            <a:off x="4842506" y="1357004"/>
            <a:ext cx="378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299" y="4808278"/>
            <a:ext cx="1635194" cy="21515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3 columns">
  <p:cSld name="Text 3 columns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521493" y="1357004"/>
            <a:ext cx="243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idx="2" type="body"/>
          </p:nvPr>
        </p:nvSpPr>
        <p:spPr>
          <a:xfrm>
            <a:off x="3356999" y="1357004"/>
            <a:ext cx="243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3" type="body"/>
          </p:nvPr>
        </p:nvSpPr>
        <p:spPr>
          <a:xfrm>
            <a:off x="6192506" y="1357004"/>
            <a:ext cx="243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299" y="4808278"/>
            <a:ext cx="1635194" cy="215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_1">
  <p:cSld name="Contacts_1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757" y="681750"/>
            <a:ext cx="1884515" cy="58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2681790" y="-553076"/>
            <a:ext cx="33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Завершающий слайд с ссылками на сайт и соцсети. Используй </a:t>
            </a:r>
            <a:b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выступлений на конференциях и других внешних мероприятиях, чтобы дать слушателям возможность узнать больше об Институте.</a:t>
            </a:r>
            <a:endParaRPr sz="1100"/>
          </a:p>
        </p:txBody>
      </p:sp>
      <p:sp>
        <p:nvSpPr>
          <p:cNvPr id="207" name="Google Shape;207;p29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grpSp>
        <p:nvGrpSpPr>
          <p:cNvPr id="208" name="Google Shape;208;p29"/>
          <p:cNvGrpSpPr/>
          <p:nvPr/>
        </p:nvGrpSpPr>
        <p:grpSpPr>
          <a:xfrm>
            <a:off x="3697857" y="1413938"/>
            <a:ext cx="2364900" cy="3183264"/>
            <a:chOff x="7271786" y="909000"/>
            <a:chExt cx="3744300" cy="5040000"/>
          </a:xfrm>
        </p:grpSpPr>
        <p:sp>
          <p:nvSpPr>
            <p:cNvPr id="209" name="Google Shape;209;p29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0" name="Google Shape;210;p29"/>
            <p:cNvGrpSpPr/>
            <p:nvPr/>
          </p:nvGrpSpPr>
          <p:grpSpPr>
            <a:xfrm>
              <a:off x="7649994" y="1268760"/>
              <a:ext cx="2988000" cy="4048530"/>
              <a:chOff x="7649994" y="1268760"/>
              <a:chExt cx="2988000" cy="4048530"/>
            </a:xfrm>
          </p:grpSpPr>
          <p:pic>
            <p:nvPicPr>
              <p:cNvPr id="211" name="Google Shape;211;p29"/>
              <p:cNvPicPr preferRelativeResize="0"/>
              <p:nvPr/>
            </p:nvPicPr>
            <p:blipFill rotWithShape="1">
              <a:blip r:embed="rId3">
                <a:alphaModFix/>
              </a:blip>
              <a:srcRect b="7663" l="7663" r="7663" t="7663"/>
              <a:stretch/>
            </p:blipFill>
            <p:spPr>
              <a:xfrm>
                <a:off x="7649994" y="1268760"/>
                <a:ext cx="2988000" cy="29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" name="Google Shape;212;p29"/>
              <p:cNvSpPr txBox="1"/>
              <p:nvPr/>
            </p:nvSpPr>
            <p:spPr>
              <a:xfrm>
                <a:off x="8600520" y="4573433"/>
                <a:ext cx="1086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" name="Google Shape;213;p29"/>
              <p:cNvSpPr txBox="1"/>
              <p:nvPr/>
            </p:nvSpPr>
            <p:spPr>
              <a:xfrm>
                <a:off x="7980893" y="5024790"/>
                <a:ext cx="23262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AIRI</a:t>
                </a:r>
                <a:endParaRPr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4" name="Google Shape;214;p29"/>
          <p:cNvGrpSpPr/>
          <p:nvPr/>
        </p:nvGrpSpPr>
        <p:grpSpPr>
          <a:xfrm>
            <a:off x="6257903" y="1413939"/>
            <a:ext cx="2364900" cy="3183264"/>
            <a:chOff x="7271786" y="909000"/>
            <a:chExt cx="3744300" cy="5040000"/>
          </a:xfrm>
        </p:grpSpPr>
        <p:sp>
          <p:nvSpPr>
            <p:cNvPr id="215" name="Google Shape;215;p29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6" name="Google Shape;216;p29"/>
            <p:cNvGrpSpPr/>
            <p:nvPr/>
          </p:nvGrpSpPr>
          <p:grpSpPr>
            <a:xfrm>
              <a:off x="7586062" y="1127008"/>
              <a:ext cx="3230555" cy="4482482"/>
              <a:chOff x="7586062" y="1127008"/>
              <a:chExt cx="3230555" cy="4482482"/>
            </a:xfrm>
          </p:grpSpPr>
          <p:pic>
            <p:nvPicPr>
              <p:cNvPr id="217" name="Google Shape;217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586062" y="1127008"/>
                <a:ext cx="3230555" cy="32305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8" name="Google Shape;218;p29"/>
              <p:cNvSpPr txBox="1"/>
              <p:nvPr/>
            </p:nvSpPr>
            <p:spPr>
              <a:xfrm>
                <a:off x="8600520" y="4573433"/>
                <a:ext cx="1086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29"/>
              <p:cNvSpPr txBox="1"/>
              <p:nvPr/>
            </p:nvSpPr>
            <p:spPr>
              <a:xfrm>
                <a:off x="8145562" y="5024790"/>
                <a:ext cx="1996800" cy="58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Канал </a:t>
                </a:r>
                <a:b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Ивана Оселедца</a:t>
                </a:r>
                <a:endParaRPr sz="1100"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_2">
  <p:cSld name="Contacts_2">
    <p:bg>
      <p:bgPr>
        <a:solidFill>
          <a:srgbClr val="F5ECE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757" y="686004"/>
            <a:ext cx="1884513" cy="572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2681790" y="-553076"/>
            <a:ext cx="33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Завершающий слайд с ссылками на сайт и соцсети. Используй </a:t>
            </a:r>
            <a:b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выступлений на конференциях и других внешних мероприятиях, чтобы дать слушателям возможность узнать больше об Институте.</a:t>
            </a:r>
            <a:endParaRPr sz="1100"/>
          </a:p>
        </p:txBody>
      </p:sp>
      <p:sp>
        <p:nvSpPr>
          <p:cNvPr id="223" name="Google Shape;223;p30"/>
          <p:cNvSpPr txBox="1"/>
          <p:nvPr/>
        </p:nvSpPr>
        <p:spPr>
          <a:xfrm>
            <a:off x="521494" y="-553076"/>
            <a:ext cx="747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grpSp>
        <p:nvGrpSpPr>
          <p:cNvPr id="224" name="Google Shape;224;p30"/>
          <p:cNvGrpSpPr/>
          <p:nvPr/>
        </p:nvGrpSpPr>
        <p:grpSpPr>
          <a:xfrm>
            <a:off x="3697857" y="1413938"/>
            <a:ext cx="2364900" cy="3183264"/>
            <a:chOff x="7271786" y="909000"/>
            <a:chExt cx="3744300" cy="5040000"/>
          </a:xfrm>
        </p:grpSpPr>
        <p:sp>
          <p:nvSpPr>
            <p:cNvPr id="225" name="Google Shape;225;p30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6" name="Google Shape;226;p30"/>
            <p:cNvGrpSpPr/>
            <p:nvPr/>
          </p:nvGrpSpPr>
          <p:grpSpPr>
            <a:xfrm>
              <a:off x="7649994" y="1268760"/>
              <a:ext cx="2988000" cy="4048530"/>
              <a:chOff x="7649994" y="1268760"/>
              <a:chExt cx="2988000" cy="4048530"/>
            </a:xfrm>
          </p:grpSpPr>
          <p:pic>
            <p:nvPicPr>
              <p:cNvPr id="227" name="Google Shape;227;p30"/>
              <p:cNvPicPr preferRelativeResize="0"/>
              <p:nvPr/>
            </p:nvPicPr>
            <p:blipFill rotWithShape="1">
              <a:blip r:embed="rId3">
                <a:alphaModFix/>
              </a:blip>
              <a:srcRect b="7663" l="7663" r="7663" t="7663"/>
              <a:stretch/>
            </p:blipFill>
            <p:spPr>
              <a:xfrm>
                <a:off x="7649994" y="1268760"/>
                <a:ext cx="2988000" cy="29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30"/>
              <p:cNvSpPr txBox="1"/>
              <p:nvPr/>
            </p:nvSpPr>
            <p:spPr>
              <a:xfrm>
                <a:off x="8600520" y="4573433"/>
                <a:ext cx="1086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9" name="Google Shape;229;p30"/>
              <p:cNvSpPr txBox="1"/>
              <p:nvPr/>
            </p:nvSpPr>
            <p:spPr>
              <a:xfrm>
                <a:off x="7980893" y="5024790"/>
                <a:ext cx="23262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AIRI</a:t>
                </a:r>
                <a:endParaRPr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0" name="Google Shape;230;p30"/>
          <p:cNvGrpSpPr/>
          <p:nvPr/>
        </p:nvGrpSpPr>
        <p:grpSpPr>
          <a:xfrm>
            <a:off x="6257903" y="1413939"/>
            <a:ext cx="2364900" cy="3183264"/>
            <a:chOff x="7271786" y="909000"/>
            <a:chExt cx="3744300" cy="5040000"/>
          </a:xfrm>
        </p:grpSpPr>
        <p:sp>
          <p:nvSpPr>
            <p:cNvPr id="231" name="Google Shape;231;p30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2" name="Google Shape;232;p30"/>
            <p:cNvGrpSpPr/>
            <p:nvPr/>
          </p:nvGrpSpPr>
          <p:grpSpPr>
            <a:xfrm>
              <a:off x="7586062" y="1127008"/>
              <a:ext cx="3230555" cy="4482482"/>
              <a:chOff x="7586062" y="1127008"/>
              <a:chExt cx="3230555" cy="4482482"/>
            </a:xfrm>
          </p:grpSpPr>
          <p:pic>
            <p:nvPicPr>
              <p:cNvPr id="233" name="Google Shape;233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586062" y="1127008"/>
                <a:ext cx="3230555" cy="32305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" name="Google Shape;234;p30"/>
              <p:cNvSpPr txBox="1"/>
              <p:nvPr/>
            </p:nvSpPr>
            <p:spPr>
              <a:xfrm>
                <a:off x="8600520" y="4573433"/>
                <a:ext cx="1086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" name="Google Shape;235;p30"/>
              <p:cNvSpPr txBox="1"/>
              <p:nvPr/>
            </p:nvSpPr>
            <p:spPr>
              <a:xfrm>
                <a:off x="8145562" y="5024790"/>
                <a:ext cx="1996800" cy="58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Канал </a:t>
                </a:r>
                <a:b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Ивана Оселедца</a:t>
                </a:r>
                <a:endParaRPr sz="1100"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">
  <p:cSld name="Instruc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611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32"/>
          <p:cNvSpPr txBox="1"/>
          <p:nvPr>
            <p:ph type="title"/>
          </p:nvPr>
        </p:nvSpPr>
        <p:spPr>
          <a:xfrm>
            <a:off x="528504" y="556730"/>
            <a:ext cx="8091842" cy="29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Title slide_1">
  <p:cSld name="01_Title slide_1">
    <p:bg>
      <p:bgPr>
        <a:solidFill>
          <a:schemeClr val="accent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17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6" name="Google Shape;246;p33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7" name="Google Shape;247;p33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48" name="Google Shape;248;p33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1578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Title slide_1">
  <p:cSld name="02_Title slide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53" name="Google Shape;253;p34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sp>
        <p:nvSpPr>
          <p:cNvPr id="254" name="Google Shape;254;p34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17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34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57" name="Google Shape;25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1578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_1">
  <p:cSld name="2_Title slide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5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3" name="Google Shape;263;p35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64" name="Google Shape;264;p35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65" name="Google Shape;2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_1">
  <p:cSld name="3_Title slide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0" name="Google Shape;270;p36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1" name="Google Shape;271;p36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72" name="Google Shape;272;p36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73" name="Google Shape;2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_1">
  <p:cSld name="4_Title slide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37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9" name="Google Shape;279;p37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80" name="Google Shape;280;p37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_1">
  <p:cSld name="5_Title slide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8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8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7" name="Google Shape;287;p38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88" name="Google Shape;288;p38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89" name="Google Shape;2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slide_1">
  <p:cSld name="12_Title slide_1">
    <p:bg>
      <p:bgPr>
        <a:solidFill>
          <a:schemeClr val="accen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586" y="630623"/>
            <a:ext cx="7913700" cy="4451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17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4" name="Google Shape;294;p39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5" name="Google Shape;295;p39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296" name="Google Shape;296;p39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297" name="Google Shape;2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1578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_1">
  <p:cSld name="13_Title slide_1">
    <p:bg>
      <p:bgPr>
        <a:solidFill>
          <a:srgbClr val="F2EEE9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586" y="627534"/>
            <a:ext cx="7913700" cy="4451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1" name="Google Shape;301;p40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40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04" name="Google Shape;304;p40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05" name="Google Shape;30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_1">
  <p:cSld name="14_Title slide_1">
    <p:bg>
      <p:bgPr>
        <a:solidFill>
          <a:srgbClr val="DCEB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586" y="627534"/>
            <a:ext cx="7913700" cy="4451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9" name="Google Shape;309;p41"/>
          <p:cNvSpPr txBox="1"/>
          <p:nvPr>
            <p:ph idx="1" type="body"/>
          </p:nvPr>
        </p:nvSpPr>
        <p:spPr>
          <a:xfrm>
            <a:off x="521494" y="3860925"/>
            <a:ext cx="2808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  <a:defRPr sz="17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0" name="Google Shape;310;p41"/>
          <p:cNvSpPr txBox="1"/>
          <p:nvPr>
            <p:ph idx="2" type="body"/>
          </p:nvPr>
        </p:nvSpPr>
        <p:spPr>
          <a:xfrm>
            <a:off x="521494" y="4245936"/>
            <a:ext cx="2808368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41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12" name="Google Shape;312;p41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13" name="Google Shape;3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_1">
  <p:cSld name="6_Title slide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8" name="Google Shape;318;p42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9" name="Google Shape;319;p42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20" name="Google Shape;320;p42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21" name="Google Shape;3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1578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2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_1">
  <p:cSld name="7_Title slide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3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27" name="Google Shape;327;p43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28" name="Google Shape;3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1578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3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2" name="Google Shape;332;p43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3" name="Google Shape;333;p43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_1">
  <p:cSld name="8_Title slide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37" name="Google Shape;337;p44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38" name="Google Shape;33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4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2" name="Google Shape;342;p44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3" name="Google Shape;343;p44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_1">
  <p:cSld name="9_Title slide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47" name="Google Shape;347;p45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48" name="Google Shape;34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5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0" name="Google Shape;350;p45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1" name="Google Shape;351;p45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5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5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_1">
  <p:cSld name="10_Title slide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6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57" name="Google Shape;357;p46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58" name="Google Shape;35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6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0" name="Google Shape;360;p46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6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46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3" name="Google Shape;363;p46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_1">
  <p:cSld name="11_Title slide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7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ИНСТРУКЦИИ</a:t>
            </a:r>
            <a:endParaRPr sz="1100"/>
          </a:p>
        </p:txBody>
      </p:sp>
      <p:sp>
        <p:nvSpPr>
          <p:cNvPr id="367" name="Google Shape;367;p47"/>
          <p:cNvSpPr txBox="1"/>
          <p:nvPr/>
        </p:nvSpPr>
        <p:spPr>
          <a:xfrm>
            <a:off x="2681790" y="-553076"/>
            <a:ext cx="2727332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Вариант обложки, 1 спикер</a:t>
            </a:r>
            <a:endParaRPr sz="1100"/>
          </a:p>
        </p:txBody>
      </p:sp>
      <p:pic>
        <p:nvPicPr>
          <p:cNvPr id="368" name="Google Shape;3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94" y="546576"/>
            <a:ext cx="3178575" cy="4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>
            <p:ph type="ctrTitle"/>
          </p:nvPr>
        </p:nvSpPr>
        <p:spPr>
          <a:xfrm>
            <a:off x="521494" y="2178787"/>
            <a:ext cx="2808368" cy="987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0" name="Google Shape;370;p47"/>
          <p:cNvSpPr txBox="1"/>
          <p:nvPr>
            <p:ph idx="1" type="body"/>
          </p:nvPr>
        </p:nvSpPr>
        <p:spPr>
          <a:xfrm>
            <a:off x="521494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7"/>
          <p:cNvSpPr txBox="1"/>
          <p:nvPr>
            <p:ph idx="2" type="body"/>
          </p:nvPr>
        </p:nvSpPr>
        <p:spPr>
          <a:xfrm>
            <a:off x="521494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7"/>
          <p:cNvSpPr txBox="1"/>
          <p:nvPr>
            <p:ph idx="3" type="body"/>
          </p:nvPr>
        </p:nvSpPr>
        <p:spPr>
          <a:xfrm>
            <a:off x="2357698" y="3860925"/>
            <a:ext cx="14042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3" name="Google Shape;373;p47"/>
          <p:cNvSpPr txBox="1"/>
          <p:nvPr>
            <p:ph idx="4" type="body"/>
          </p:nvPr>
        </p:nvSpPr>
        <p:spPr>
          <a:xfrm>
            <a:off x="2357698" y="4245936"/>
            <a:ext cx="1404212" cy="162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Agenda" type="titleOnly">
  <p:cSld name="TITLE_ONLY">
    <p:bg>
      <p:bgPr>
        <a:solidFill>
          <a:schemeClr val="accent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/>
          <p:nvPr>
            <p:ph type="title"/>
          </p:nvPr>
        </p:nvSpPr>
        <p:spPr>
          <a:xfrm>
            <a:off x="521494" y="1098345"/>
            <a:ext cx="36724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Medium"/>
              <a:buNone/>
              <a:defRPr b="0" i="0" sz="36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6" name="Google Shape;376;p48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2681790" y="-553076"/>
            <a:ext cx="2916324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Пример слайда с содержанием презентации.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Перечисли здесь смысловые части своей презентации, чтобы рассказать слушателям о ходе выступления.</a:t>
            </a:r>
            <a:endParaRPr sz="1100"/>
          </a:p>
        </p:txBody>
      </p:sp>
      <p:sp>
        <p:nvSpPr>
          <p:cNvPr id="378" name="Google Shape;378;p48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Agenda">
  <p:cSld name="02_Agenda">
    <p:bg>
      <p:bgPr>
        <a:solidFill>
          <a:srgbClr val="F6EDE6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/>
          <p:nvPr>
            <p:ph type="title"/>
          </p:nvPr>
        </p:nvSpPr>
        <p:spPr>
          <a:xfrm>
            <a:off x="521494" y="1098345"/>
            <a:ext cx="36724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 Medium"/>
              <a:buNone/>
              <a:defRPr b="0" i="0" sz="3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1" name="Google Shape;381;p49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49"/>
          <p:cNvSpPr txBox="1"/>
          <p:nvPr/>
        </p:nvSpPr>
        <p:spPr>
          <a:xfrm>
            <a:off x="2681790" y="-553076"/>
            <a:ext cx="2916324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Пример слайда с содержанием презентации.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Перечисли здесь смысловые части своей презентации, чтобы рассказать слушателям о ходе выступления.</a:t>
            </a:r>
            <a:endParaRPr sz="1100"/>
          </a:p>
        </p:txBody>
      </p:sp>
      <p:sp>
        <p:nvSpPr>
          <p:cNvPr id="383" name="Google Shape;383;p49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Section divider">
  <p:cSld name="01_Section divider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0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Inter"/>
              <a:buNone/>
              <a:defRPr sz="90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50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50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390" name="Google Shape;390;p50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divider">
  <p:cSld name="2_Section divider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1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Inter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4" name="Google Shape;394;p51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Inter"/>
              <a:buNone/>
              <a:defRPr sz="90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5" name="Google Shape;395;p51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397" name="Google Shape;397;p51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divider">
  <p:cSld name="3_Section divider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2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52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  <a:defRPr sz="90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52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52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404" name="Google Shape;404;p52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divider">
  <p:cSld name="4_Section divider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3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8" name="Google Shape;408;p53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  <a:defRPr sz="90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9" name="Google Shape;409;p53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411" name="Google Shape;411;p53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divider">
  <p:cSld name="5_Section divi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4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5" name="Google Shape;415;p54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  <a:defRPr sz="90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6" name="Google Shape;416;p54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54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418" name="Google Shape;418;p54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divider">
  <p:cSld name="6_Section divid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5"/>
          <p:cNvSpPr txBox="1"/>
          <p:nvPr>
            <p:ph type="title"/>
          </p:nvPr>
        </p:nvSpPr>
        <p:spPr>
          <a:xfrm>
            <a:off x="521495" y="2294751"/>
            <a:ext cx="475258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55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  <a:defRPr sz="90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5"/>
          <p:cNvSpPr/>
          <p:nvPr/>
        </p:nvSpPr>
        <p:spPr>
          <a:xfrm>
            <a:off x="521494" y="1878511"/>
            <a:ext cx="1257556" cy="54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55"/>
          <p:cNvSpPr txBox="1"/>
          <p:nvPr/>
        </p:nvSpPr>
        <p:spPr>
          <a:xfrm>
            <a:off x="2681790" y="-553076"/>
            <a:ext cx="2916324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Разделитель с названием раздела.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Номер раздела можно указать по желанию.</a:t>
            </a:r>
            <a:endParaRPr sz="1100"/>
          </a:p>
        </p:txBody>
      </p:sp>
      <p:sp>
        <p:nvSpPr>
          <p:cNvPr id="425" name="Google Shape;425;p55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72645" y="4807435"/>
            <a:ext cx="1495799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6"/>
          <p:cNvSpPr txBox="1"/>
          <p:nvPr/>
        </p:nvSpPr>
        <p:spPr>
          <a:xfrm>
            <a:off x="6144445" y="4858148"/>
            <a:ext cx="450341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56"/>
          <p:cNvSpPr txBox="1"/>
          <p:nvPr>
            <p:ph type="title"/>
          </p:nvPr>
        </p:nvSpPr>
        <p:spPr>
          <a:xfrm>
            <a:off x="528504" y="556730"/>
            <a:ext cx="8091842" cy="29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Key message">
  <p:cSld name="01_Key message"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7"/>
          <p:cNvSpPr txBox="1"/>
          <p:nvPr/>
        </p:nvSpPr>
        <p:spPr>
          <a:xfrm>
            <a:off x="2681790" y="-553076"/>
            <a:ext cx="291632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Слайд для важной идеи, цитаты или вывода</a:t>
            </a:r>
            <a:endParaRPr sz="1100"/>
          </a:p>
        </p:txBody>
      </p:sp>
      <p:sp>
        <p:nvSpPr>
          <p:cNvPr id="433" name="Google Shape;433;p57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434" name="Google Shape;434;p57"/>
          <p:cNvSpPr txBox="1"/>
          <p:nvPr>
            <p:ph type="title"/>
          </p:nvPr>
        </p:nvSpPr>
        <p:spPr>
          <a:xfrm>
            <a:off x="896206" y="882779"/>
            <a:ext cx="5998052" cy="1846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Key message">
  <p:cSld name="02_Key message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 txBox="1"/>
          <p:nvPr/>
        </p:nvSpPr>
        <p:spPr>
          <a:xfrm>
            <a:off x="2681790" y="-553076"/>
            <a:ext cx="291632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Слайд для важной идеи, цитаты или вывода</a:t>
            </a:r>
            <a:endParaRPr sz="1100"/>
          </a:p>
        </p:txBody>
      </p:sp>
      <p:sp>
        <p:nvSpPr>
          <p:cNvPr id="437" name="Google Shape;437;p58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pic>
        <p:nvPicPr>
          <p:cNvPr id="438" name="Google Shape;43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8"/>
          <p:cNvSpPr txBox="1"/>
          <p:nvPr>
            <p:ph type="title"/>
          </p:nvPr>
        </p:nvSpPr>
        <p:spPr>
          <a:xfrm>
            <a:off x="896206" y="882779"/>
            <a:ext cx="5998052" cy="1846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Key message">
  <p:cSld name="03_Key message">
    <p:bg>
      <p:bgPr>
        <a:solidFill>
          <a:schemeClr val="lt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9"/>
          <p:cNvSpPr txBox="1"/>
          <p:nvPr/>
        </p:nvSpPr>
        <p:spPr>
          <a:xfrm>
            <a:off x="2681790" y="-553076"/>
            <a:ext cx="291632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Слайд для важной идеи, цитаты или вывода</a:t>
            </a:r>
            <a:endParaRPr sz="1100"/>
          </a:p>
        </p:txBody>
      </p:sp>
      <p:sp>
        <p:nvSpPr>
          <p:cNvPr id="444" name="Google Shape;444;p59"/>
          <p:cNvSpPr txBox="1"/>
          <p:nvPr/>
        </p:nvSpPr>
        <p:spPr>
          <a:xfrm>
            <a:off x="521494" y="-553076"/>
            <a:ext cx="747801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ИНСТРУКЦИИ</a:t>
            </a:r>
            <a:endParaRPr sz="1100"/>
          </a:p>
        </p:txBody>
      </p:sp>
      <p:sp>
        <p:nvSpPr>
          <p:cNvPr id="445" name="Google Shape;445;p59"/>
          <p:cNvSpPr txBox="1"/>
          <p:nvPr>
            <p:ph type="title"/>
          </p:nvPr>
        </p:nvSpPr>
        <p:spPr>
          <a:xfrm>
            <a:off x="896206" y="882779"/>
            <a:ext cx="5998052" cy="1846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Contacts_1">
  <p:cSld name="01_Contacts_1">
    <p:bg>
      <p:bgPr>
        <a:solidFill>
          <a:srgbClr val="F6EDE6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/>
          <p:nvPr/>
        </p:nvSpPr>
        <p:spPr>
          <a:xfrm>
            <a:off x="5453839" y="681750"/>
            <a:ext cx="2808300" cy="3780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8" name="Google Shape;448;p60"/>
          <p:cNvPicPr preferRelativeResize="0"/>
          <p:nvPr/>
        </p:nvPicPr>
        <p:blipFill rotWithShape="1">
          <a:blip r:embed="rId2">
            <a:alphaModFix/>
          </a:blip>
          <a:srcRect b="7663" l="7663" r="7663" t="7663"/>
          <a:stretch/>
        </p:blipFill>
        <p:spPr>
          <a:xfrm>
            <a:off x="5737496" y="951570"/>
            <a:ext cx="2241000" cy="22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0"/>
          <p:cNvSpPr txBox="1"/>
          <p:nvPr/>
        </p:nvSpPr>
        <p:spPr>
          <a:xfrm>
            <a:off x="6514754" y="3524042"/>
            <a:ext cx="6864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60"/>
          <p:cNvSpPr txBox="1"/>
          <p:nvPr/>
        </p:nvSpPr>
        <p:spPr>
          <a:xfrm>
            <a:off x="6674096" y="3845250"/>
            <a:ext cx="36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AIRI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1" name="Google Shape;45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Contacts_1">
  <p:cSld name="02_Contacts_1">
    <p:bg>
      <p:bgPr>
        <a:solidFill>
          <a:schemeClr val="accent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1"/>
          <p:cNvSpPr/>
          <p:nvPr/>
        </p:nvSpPr>
        <p:spPr>
          <a:xfrm>
            <a:off x="5453840" y="681750"/>
            <a:ext cx="2808312" cy="3780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5" name="Google Shape;455;p61"/>
          <p:cNvPicPr preferRelativeResize="0"/>
          <p:nvPr/>
        </p:nvPicPr>
        <p:blipFill rotWithShape="1">
          <a:blip r:embed="rId3">
            <a:alphaModFix/>
          </a:blip>
          <a:srcRect b="7663" l="7663" r="7663" t="7663"/>
          <a:stretch/>
        </p:blipFill>
        <p:spPr>
          <a:xfrm>
            <a:off x="5737496" y="951570"/>
            <a:ext cx="2241000" cy="22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1"/>
          <p:cNvSpPr txBox="1"/>
          <p:nvPr/>
        </p:nvSpPr>
        <p:spPr>
          <a:xfrm>
            <a:off x="6514754" y="3524042"/>
            <a:ext cx="6864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61"/>
          <p:cNvSpPr txBox="1"/>
          <p:nvPr/>
        </p:nvSpPr>
        <p:spPr>
          <a:xfrm>
            <a:off x="6674096" y="3845250"/>
            <a:ext cx="36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AIRI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acts_1">
  <p:cSld name="3_Contacts_1">
    <p:bg>
      <p:bgPr>
        <a:solidFill>
          <a:srgbClr val="DCEB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2"/>
          <p:cNvSpPr/>
          <p:nvPr/>
        </p:nvSpPr>
        <p:spPr>
          <a:xfrm>
            <a:off x="5453840" y="681750"/>
            <a:ext cx="2808312" cy="3780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1" name="Google Shape;461;p62"/>
          <p:cNvPicPr preferRelativeResize="0"/>
          <p:nvPr/>
        </p:nvPicPr>
        <p:blipFill rotWithShape="1">
          <a:blip r:embed="rId3">
            <a:alphaModFix/>
          </a:blip>
          <a:srcRect b="7663" l="7663" r="7663" t="7663"/>
          <a:stretch/>
        </p:blipFill>
        <p:spPr>
          <a:xfrm>
            <a:off x="5737496" y="951570"/>
            <a:ext cx="2241000" cy="22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62"/>
          <p:cNvSpPr txBox="1"/>
          <p:nvPr/>
        </p:nvSpPr>
        <p:spPr>
          <a:xfrm>
            <a:off x="6514754" y="3524042"/>
            <a:ext cx="6864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3" name="Google Shape;46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2"/>
          <p:cNvSpPr txBox="1"/>
          <p:nvPr/>
        </p:nvSpPr>
        <p:spPr>
          <a:xfrm>
            <a:off x="6674096" y="3845250"/>
            <a:ext cx="36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AIRI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Contacts_2">
  <p:cSld name="01_Contacts_2">
    <p:bg>
      <p:bgPr>
        <a:solidFill>
          <a:srgbClr val="F6EDE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63"/>
          <p:cNvGrpSpPr/>
          <p:nvPr/>
        </p:nvGrpSpPr>
        <p:grpSpPr>
          <a:xfrm>
            <a:off x="3697613" y="1413907"/>
            <a:ext cx="2364774" cy="3183095"/>
            <a:chOff x="7271786" y="909000"/>
            <a:chExt cx="3744300" cy="5040000"/>
          </a:xfrm>
        </p:grpSpPr>
        <p:sp>
          <p:nvSpPr>
            <p:cNvPr id="467" name="Google Shape;467;p63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68" name="Google Shape;468;p63"/>
            <p:cNvGrpSpPr/>
            <p:nvPr/>
          </p:nvGrpSpPr>
          <p:grpSpPr>
            <a:xfrm>
              <a:off x="7649994" y="1268760"/>
              <a:ext cx="2988000" cy="4048536"/>
              <a:chOff x="7649994" y="1268760"/>
              <a:chExt cx="2988000" cy="4048536"/>
            </a:xfrm>
          </p:grpSpPr>
          <p:pic>
            <p:nvPicPr>
              <p:cNvPr id="469" name="Google Shape;469;p63"/>
              <p:cNvPicPr preferRelativeResize="0"/>
              <p:nvPr/>
            </p:nvPicPr>
            <p:blipFill rotWithShape="1">
              <a:blip r:embed="rId2">
                <a:alphaModFix/>
              </a:blip>
              <a:srcRect b="7663" l="7663" r="7663" t="7663"/>
              <a:stretch/>
            </p:blipFill>
            <p:spPr>
              <a:xfrm>
                <a:off x="7649994" y="1268760"/>
                <a:ext cx="2988000" cy="29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0" name="Google Shape;470;p63"/>
              <p:cNvSpPr txBox="1"/>
              <p:nvPr/>
            </p:nvSpPr>
            <p:spPr>
              <a:xfrm>
                <a:off x="8592444" y="4596519"/>
                <a:ext cx="1103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1" name="Google Shape;471;p63"/>
              <p:cNvSpPr txBox="1"/>
              <p:nvPr/>
            </p:nvSpPr>
            <p:spPr>
              <a:xfrm>
                <a:off x="8845044" y="5024796"/>
                <a:ext cx="597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AIRI</a:t>
                </a:r>
                <a:endParaRPr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72" name="Google Shape;472;p63"/>
          <p:cNvSpPr/>
          <p:nvPr/>
        </p:nvSpPr>
        <p:spPr>
          <a:xfrm>
            <a:off x="6257659" y="1413908"/>
            <a:ext cx="2364900" cy="3183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3" name="Google Shape;4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6145" y="1551595"/>
            <a:ext cx="2040310" cy="20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3"/>
          <p:cNvSpPr txBox="1"/>
          <p:nvPr/>
        </p:nvSpPr>
        <p:spPr>
          <a:xfrm>
            <a:off x="7093583" y="3742825"/>
            <a:ext cx="69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63"/>
          <p:cNvSpPr txBox="1"/>
          <p:nvPr/>
        </p:nvSpPr>
        <p:spPr>
          <a:xfrm>
            <a:off x="6809507" y="4013304"/>
            <a:ext cx="1261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Канал </a:t>
            </a:r>
            <a:b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Ивана Оселедца</a:t>
            </a:r>
            <a:endParaRPr sz="1100"/>
          </a:p>
        </p:txBody>
      </p:sp>
      <p:pic>
        <p:nvPicPr>
          <p:cNvPr id="476" name="Google Shape;47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Contacts_2">
  <p:cSld name="02_Contacts_2">
    <p:bg>
      <p:bgPr>
        <a:solidFill>
          <a:schemeClr val="accent2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64"/>
          <p:cNvGrpSpPr/>
          <p:nvPr/>
        </p:nvGrpSpPr>
        <p:grpSpPr>
          <a:xfrm>
            <a:off x="3697857" y="1413938"/>
            <a:ext cx="2364900" cy="3183264"/>
            <a:chOff x="7271786" y="909000"/>
            <a:chExt cx="3744300" cy="5040000"/>
          </a:xfrm>
        </p:grpSpPr>
        <p:sp>
          <p:nvSpPr>
            <p:cNvPr id="480" name="Google Shape;480;p64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81" name="Google Shape;481;p64"/>
            <p:cNvGrpSpPr/>
            <p:nvPr/>
          </p:nvGrpSpPr>
          <p:grpSpPr>
            <a:xfrm>
              <a:off x="7649994" y="1268760"/>
              <a:ext cx="2988000" cy="4048536"/>
              <a:chOff x="7649994" y="1268760"/>
              <a:chExt cx="2988000" cy="4048536"/>
            </a:xfrm>
          </p:grpSpPr>
          <p:pic>
            <p:nvPicPr>
              <p:cNvPr id="482" name="Google Shape;482;p64"/>
              <p:cNvPicPr preferRelativeResize="0"/>
              <p:nvPr/>
            </p:nvPicPr>
            <p:blipFill rotWithShape="1">
              <a:blip r:embed="rId3">
                <a:alphaModFix/>
              </a:blip>
              <a:srcRect b="7662" l="7662" r="7662" t="7662"/>
              <a:stretch/>
            </p:blipFill>
            <p:spPr>
              <a:xfrm>
                <a:off x="7649994" y="1268760"/>
                <a:ext cx="2988000" cy="29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3" name="Google Shape;483;p64"/>
              <p:cNvSpPr txBox="1"/>
              <p:nvPr/>
            </p:nvSpPr>
            <p:spPr>
              <a:xfrm>
                <a:off x="8592444" y="4596519"/>
                <a:ext cx="1103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64"/>
              <p:cNvSpPr txBox="1"/>
              <p:nvPr/>
            </p:nvSpPr>
            <p:spPr>
              <a:xfrm>
                <a:off x="8845044" y="5024796"/>
                <a:ext cx="597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AIRI</a:t>
                </a:r>
                <a:endParaRPr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85" name="Google Shape;485;p64"/>
          <p:cNvSpPr/>
          <p:nvPr/>
        </p:nvSpPr>
        <p:spPr>
          <a:xfrm>
            <a:off x="6257659" y="1413908"/>
            <a:ext cx="2364900" cy="3183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6" name="Google Shape;48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145" y="1551595"/>
            <a:ext cx="2040310" cy="20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4"/>
          <p:cNvSpPr txBox="1"/>
          <p:nvPr/>
        </p:nvSpPr>
        <p:spPr>
          <a:xfrm>
            <a:off x="7093583" y="3742825"/>
            <a:ext cx="69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64"/>
          <p:cNvSpPr txBox="1"/>
          <p:nvPr/>
        </p:nvSpPr>
        <p:spPr>
          <a:xfrm>
            <a:off x="6809507" y="4013304"/>
            <a:ext cx="12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Канал </a:t>
            </a:r>
            <a:b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Ивана Оселедца</a:t>
            </a:r>
            <a:endParaRPr sz="110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acts_2">
  <p:cSld name="3_Contacts_2">
    <p:bg>
      <p:bgPr>
        <a:solidFill>
          <a:srgbClr val="DCEB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65"/>
          <p:cNvGrpSpPr/>
          <p:nvPr/>
        </p:nvGrpSpPr>
        <p:grpSpPr>
          <a:xfrm>
            <a:off x="3697857" y="1413938"/>
            <a:ext cx="2364900" cy="3183264"/>
            <a:chOff x="7271786" y="909000"/>
            <a:chExt cx="3744300" cy="5040000"/>
          </a:xfrm>
        </p:grpSpPr>
        <p:sp>
          <p:nvSpPr>
            <p:cNvPr id="493" name="Google Shape;493;p65"/>
            <p:cNvSpPr/>
            <p:nvPr/>
          </p:nvSpPr>
          <p:spPr>
            <a:xfrm>
              <a:off x="7271786" y="909000"/>
              <a:ext cx="3744300" cy="5040000"/>
            </a:xfrm>
            <a:prstGeom prst="roundRect">
              <a:avLst>
                <a:gd fmla="val 717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4" name="Google Shape;494;p65"/>
            <p:cNvGrpSpPr/>
            <p:nvPr/>
          </p:nvGrpSpPr>
          <p:grpSpPr>
            <a:xfrm>
              <a:off x="7649994" y="1268760"/>
              <a:ext cx="2988000" cy="4048536"/>
              <a:chOff x="7649994" y="1268760"/>
              <a:chExt cx="2988000" cy="4048536"/>
            </a:xfrm>
          </p:grpSpPr>
          <p:pic>
            <p:nvPicPr>
              <p:cNvPr id="495" name="Google Shape;495;p65"/>
              <p:cNvPicPr preferRelativeResize="0"/>
              <p:nvPr/>
            </p:nvPicPr>
            <p:blipFill rotWithShape="1">
              <a:blip r:embed="rId4">
                <a:alphaModFix/>
              </a:blip>
              <a:srcRect b="7662" l="7662" r="7662" t="7662"/>
              <a:stretch/>
            </p:blipFill>
            <p:spPr>
              <a:xfrm>
                <a:off x="7649994" y="1268760"/>
                <a:ext cx="2988000" cy="29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6" name="Google Shape;496;p65"/>
              <p:cNvSpPr txBox="1"/>
              <p:nvPr/>
            </p:nvSpPr>
            <p:spPr>
              <a:xfrm>
                <a:off x="8592444" y="4596519"/>
                <a:ext cx="1103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Telegram</a:t>
                </a:r>
                <a:endParaRPr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65"/>
              <p:cNvSpPr txBox="1"/>
              <p:nvPr/>
            </p:nvSpPr>
            <p:spPr>
              <a:xfrm>
                <a:off x="8845044" y="5024796"/>
                <a:ext cx="597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1200">
                    <a:solidFill>
                      <a:schemeClr val="dk2"/>
                    </a:solidFill>
                    <a:latin typeface="Inter"/>
                    <a:ea typeface="Inter"/>
                    <a:cs typeface="Inter"/>
                    <a:sym typeface="Inter"/>
                  </a:rPr>
                  <a:t>AIRI</a:t>
                </a:r>
                <a:endParaRPr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98" name="Google Shape;498;p65"/>
          <p:cNvSpPr/>
          <p:nvPr/>
        </p:nvSpPr>
        <p:spPr>
          <a:xfrm>
            <a:off x="6257659" y="1413908"/>
            <a:ext cx="2364900" cy="31830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9" name="Google Shape;49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6145" y="1551595"/>
            <a:ext cx="2040310" cy="204031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5"/>
          <p:cNvSpPr txBox="1"/>
          <p:nvPr/>
        </p:nvSpPr>
        <p:spPr>
          <a:xfrm>
            <a:off x="7093583" y="3742825"/>
            <a:ext cx="69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1" name="Google Shape;501;p65"/>
          <p:cNvSpPr txBox="1"/>
          <p:nvPr/>
        </p:nvSpPr>
        <p:spPr>
          <a:xfrm>
            <a:off x="6809507" y="4013304"/>
            <a:ext cx="12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Канал </a:t>
            </a:r>
            <a:b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Ивана Оселедца</a:t>
            </a:r>
            <a:endParaRPr sz="110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acts_2">
  <p:cSld name="2_Contacts_2">
    <p:bg>
      <p:bgPr>
        <a:solidFill>
          <a:srgbClr val="F6EDE6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6"/>
          <p:cNvSpPr/>
          <p:nvPr/>
        </p:nvSpPr>
        <p:spPr>
          <a:xfrm>
            <a:off x="3697857" y="1413938"/>
            <a:ext cx="2364900" cy="31833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66"/>
          <p:cNvSpPr/>
          <p:nvPr/>
        </p:nvSpPr>
        <p:spPr>
          <a:xfrm>
            <a:off x="6257659" y="1413908"/>
            <a:ext cx="2364848" cy="3183095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5" name="Google Shape;50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66"/>
          <p:cNvGrpSpPr/>
          <p:nvPr/>
        </p:nvGrpSpPr>
        <p:grpSpPr>
          <a:xfrm>
            <a:off x="3936733" y="1641162"/>
            <a:ext cx="1887221" cy="2557056"/>
            <a:chOff x="7649994" y="1268760"/>
            <a:chExt cx="2988000" cy="4048536"/>
          </a:xfrm>
        </p:grpSpPr>
        <p:pic>
          <p:nvPicPr>
            <p:cNvPr id="507" name="Google Shape;507;p66"/>
            <p:cNvPicPr preferRelativeResize="0"/>
            <p:nvPr/>
          </p:nvPicPr>
          <p:blipFill rotWithShape="1">
            <a:blip r:embed="rId3">
              <a:alphaModFix/>
            </a:blip>
            <a:srcRect b="7662" l="7662" r="7662" t="7662"/>
            <a:stretch/>
          </p:blipFill>
          <p:spPr>
            <a:xfrm>
              <a:off x="7649994" y="1268760"/>
              <a:ext cx="2988000" cy="29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66"/>
            <p:cNvSpPr txBox="1"/>
            <p:nvPr/>
          </p:nvSpPr>
          <p:spPr>
            <a:xfrm>
              <a:off x="8592444" y="4596519"/>
              <a:ext cx="1103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Telegram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9" name="Google Shape;509;p66"/>
            <p:cNvSpPr txBox="1"/>
            <p:nvPr/>
          </p:nvSpPr>
          <p:spPr>
            <a:xfrm>
              <a:off x="8845044" y="5024796"/>
              <a:ext cx="597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AIRI</a:t>
              </a:r>
              <a:endPara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acts_2">
  <p:cSld name="4_Contacts_2">
    <p:bg>
      <p:bgPr>
        <a:solidFill>
          <a:schemeClr val="accent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7"/>
          <p:cNvSpPr/>
          <p:nvPr/>
        </p:nvSpPr>
        <p:spPr>
          <a:xfrm>
            <a:off x="6257659" y="1413908"/>
            <a:ext cx="2364848" cy="3183095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67"/>
          <p:cNvSpPr/>
          <p:nvPr/>
        </p:nvSpPr>
        <p:spPr>
          <a:xfrm>
            <a:off x="3697857" y="1413938"/>
            <a:ext cx="2364900" cy="31833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4" name="Google Shape;514;p67"/>
          <p:cNvGrpSpPr/>
          <p:nvPr/>
        </p:nvGrpSpPr>
        <p:grpSpPr>
          <a:xfrm>
            <a:off x="3936733" y="1641162"/>
            <a:ext cx="1887221" cy="2557056"/>
            <a:chOff x="7649994" y="1268760"/>
            <a:chExt cx="2988000" cy="4048536"/>
          </a:xfrm>
        </p:grpSpPr>
        <p:pic>
          <p:nvPicPr>
            <p:cNvPr id="515" name="Google Shape;515;p67"/>
            <p:cNvPicPr preferRelativeResize="0"/>
            <p:nvPr/>
          </p:nvPicPr>
          <p:blipFill rotWithShape="1">
            <a:blip r:embed="rId3">
              <a:alphaModFix/>
            </a:blip>
            <a:srcRect b="7662" l="7662" r="7662" t="7662"/>
            <a:stretch/>
          </p:blipFill>
          <p:spPr>
            <a:xfrm>
              <a:off x="7649994" y="1268760"/>
              <a:ext cx="2988000" cy="29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67"/>
            <p:cNvSpPr txBox="1"/>
            <p:nvPr/>
          </p:nvSpPr>
          <p:spPr>
            <a:xfrm>
              <a:off x="8592444" y="4596519"/>
              <a:ext cx="1103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Telegram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7" name="Google Shape;517;p67"/>
            <p:cNvSpPr txBox="1"/>
            <p:nvPr/>
          </p:nvSpPr>
          <p:spPr>
            <a:xfrm>
              <a:off x="8845044" y="5024796"/>
              <a:ext cx="597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AIRI</a:t>
              </a:r>
              <a:endPara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ntacts_2">
  <p:cSld name="5_Contacts_2">
    <p:bg>
      <p:bgPr>
        <a:solidFill>
          <a:srgbClr val="DCEB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567" y="681750"/>
            <a:ext cx="1965607" cy="59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8"/>
          <p:cNvSpPr/>
          <p:nvPr/>
        </p:nvSpPr>
        <p:spPr>
          <a:xfrm>
            <a:off x="6257659" y="1413908"/>
            <a:ext cx="2364848" cy="3183095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1" name="Google Shape;52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681749"/>
            <a:ext cx="1968246" cy="597707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8"/>
          <p:cNvSpPr/>
          <p:nvPr/>
        </p:nvSpPr>
        <p:spPr>
          <a:xfrm>
            <a:off x="3697857" y="1413938"/>
            <a:ext cx="2364900" cy="3183300"/>
          </a:xfrm>
          <a:prstGeom prst="roundRect">
            <a:avLst>
              <a:gd fmla="val 717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23" name="Google Shape;523;p68"/>
          <p:cNvGrpSpPr/>
          <p:nvPr/>
        </p:nvGrpSpPr>
        <p:grpSpPr>
          <a:xfrm>
            <a:off x="3936733" y="1641162"/>
            <a:ext cx="1887221" cy="2557056"/>
            <a:chOff x="7649994" y="1268760"/>
            <a:chExt cx="2988000" cy="4048536"/>
          </a:xfrm>
        </p:grpSpPr>
        <p:pic>
          <p:nvPicPr>
            <p:cNvPr id="524" name="Google Shape;524;p68"/>
            <p:cNvPicPr preferRelativeResize="0"/>
            <p:nvPr/>
          </p:nvPicPr>
          <p:blipFill rotWithShape="1">
            <a:blip r:embed="rId4">
              <a:alphaModFix/>
            </a:blip>
            <a:srcRect b="7662" l="7662" r="7662" t="7662"/>
            <a:stretch/>
          </p:blipFill>
          <p:spPr>
            <a:xfrm>
              <a:off x="7649994" y="1268760"/>
              <a:ext cx="2988000" cy="29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68"/>
            <p:cNvSpPr txBox="1"/>
            <p:nvPr/>
          </p:nvSpPr>
          <p:spPr>
            <a:xfrm>
              <a:off x="8592444" y="4596519"/>
              <a:ext cx="1103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Telegram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6" name="Google Shape;526;p68"/>
            <p:cNvSpPr txBox="1"/>
            <p:nvPr/>
          </p:nvSpPr>
          <p:spPr>
            <a:xfrm>
              <a:off x="8845044" y="5024796"/>
              <a:ext cx="597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AIRI</a:t>
              </a:r>
              <a:endPara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1 column">
  <p:cSld name="Text 1 column">
    <p:bg>
      <p:bgPr>
        <a:solidFill>
          <a:schemeClr val="lt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0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0" name="Google Shape;530;p70"/>
          <p:cNvSpPr txBox="1"/>
          <p:nvPr>
            <p:ph idx="1" type="body"/>
          </p:nvPr>
        </p:nvSpPr>
        <p:spPr>
          <a:xfrm>
            <a:off x="521494" y="1357004"/>
            <a:ext cx="81009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1" name="Google Shape;531;p70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32" name="Google Shape;532;p70" title="log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24700" y="4800275"/>
            <a:ext cx="1488527" cy="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">
  <p:cSld name="Image">
    <p:bg>
      <p:bgPr>
        <a:solidFill>
          <a:schemeClr val="lt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521494" y="546497"/>
            <a:ext cx="8100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5" name="Google Shape;535;p71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36" name="Google Shape;536;p71" title="log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24700" y="4800275"/>
            <a:ext cx="1488527" cy="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49.xml"/><Relationship Id="rId41" Type="http://schemas.openxmlformats.org/officeDocument/2006/relationships/theme" Target="../theme/theme3.xml"/><Relationship Id="rId22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58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29">
          <p15:clr>
            <a:srgbClr val="F26B43"/>
          </p15:clr>
        </p15:guide>
        <p15:guide id="5" pos="5431">
          <p15:clr>
            <a:srgbClr val="F26B43"/>
          </p15:clr>
        </p15:guide>
        <p15:guide id="6" orient="horz" pos="28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528504" y="556730"/>
            <a:ext cx="8091842" cy="290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528503" y="1357004"/>
            <a:ext cx="8094002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31">
          <p15:clr>
            <a:srgbClr val="F26B43"/>
          </p15:clr>
        </p15:guide>
        <p15:guide id="4" pos="329">
          <p15:clr>
            <a:srgbClr val="F26B43"/>
          </p15:clr>
        </p15:guide>
        <p15:guide id="5" orient="horz" pos="344">
          <p15:clr>
            <a:srgbClr val="F26B43"/>
          </p15:clr>
        </p15:guide>
        <p15:guide id="6" orient="horz" pos="2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8.png"/><Relationship Id="rId4" Type="http://schemas.openxmlformats.org/officeDocument/2006/relationships/image" Target="../media/image9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vNxBSC2CZli7XCmGB1V01JmzBtyOaCqE/view" TargetMode="External"/><Relationship Id="rId4" Type="http://schemas.openxmlformats.org/officeDocument/2006/relationships/image" Target="../media/image55.png"/><Relationship Id="rId5" Type="http://schemas.openxmlformats.org/officeDocument/2006/relationships/hyperlink" Target="http://drive.google.com/file/d/1rpvDW8FpBODqb0L3gCDgKcrqEbtn6Ugt/view" TargetMode="External"/><Relationship Id="rId6" Type="http://schemas.openxmlformats.org/officeDocument/2006/relationships/image" Target="../media/image8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5.gif"/><Relationship Id="rId4" Type="http://schemas.openxmlformats.org/officeDocument/2006/relationships/image" Target="../media/image65.gif"/><Relationship Id="rId5" Type="http://schemas.openxmlformats.org/officeDocument/2006/relationships/image" Target="../media/image6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3.png"/><Relationship Id="rId4" Type="http://schemas.openxmlformats.org/officeDocument/2006/relationships/image" Target="../media/image69.png"/><Relationship Id="rId5" Type="http://schemas.openxmlformats.org/officeDocument/2006/relationships/image" Target="../media/image74.png"/><Relationship Id="rId6" Type="http://schemas.openxmlformats.org/officeDocument/2006/relationships/image" Target="../media/image7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0.png"/><Relationship Id="rId4" Type="http://schemas.openxmlformats.org/officeDocument/2006/relationships/image" Target="../media/image76.png"/><Relationship Id="rId5" Type="http://schemas.openxmlformats.org/officeDocument/2006/relationships/image" Target="../media/image8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6.png"/><Relationship Id="rId4" Type="http://schemas.openxmlformats.org/officeDocument/2006/relationships/image" Target="../media/image82.png"/><Relationship Id="rId5" Type="http://schemas.openxmlformats.org/officeDocument/2006/relationships/image" Target="../media/image7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10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9.png"/><Relationship Id="rId4" Type="http://schemas.openxmlformats.org/officeDocument/2006/relationships/image" Target="../media/image81.png"/><Relationship Id="rId5" Type="http://schemas.openxmlformats.org/officeDocument/2006/relationships/image" Target="../media/image8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4.png"/><Relationship Id="rId4" Type="http://schemas.openxmlformats.org/officeDocument/2006/relationships/image" Target="../media/image101.png"/><Relationship Id="rId5" Type="http://schemas.openxmlformats.org/officeDocument/2006/relationships/image" Target="../media/image8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3.png"/><Relationship Id="rId5" Type="http://schemas.openxmlformats.org/officeDocument/2006/relationships/image" Target="../media/image99.png"/><Relationship Id="rId6" Type="http://schemas.openxmlformats.org/officeDocument/2006/relationships/image" Target="../media/image97.png"/><Relationship Id="rId7" Type="http://schemas.openxmlformats.org/officeDocument/2006/relationships/image" Target="../media/image100.png"/><Relationship Id="rId8" Type="http://schemas.openxmlformats.org/officeDocument/2006/relationships/image" Target="../media/image109.png"/><Relationship Id="rId11" Type="http://schemas.openxmlformats.org/officeDocument/2006/relationships/image" Target="../media/image98.png"/><Relationship Id="rId10" Type="http://schemas.openxmlformats.org/officeDocument/2006/relationships/image" Target="../media/image94.png"/><Relationship Id="rId12" Type="http://schemas.openxmlformats.org/officeDocument/2006/relationships/image" Target="../media/image10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6.png"/><Relationship Id="rId4" Type="http://schemas.openxmlformats.org/officeDocument/2006/relationships/image" Target="../media/image82.png"/><Relationship Id="rId5" Type="http://schemas.openxmlformats.org/officeDocument/2006/relationships/image" Target="../media/image7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0.png"/><Relationship Id="rId4" Type="http://schemas.openxmlformats.org/officeDocument/2006/relationships/image" Target="../media/image76.png"/><Relationship Id="rId5" Type="http://schemas.openxmlformats.org/officeDocument/2006/relationships/image" Target="../media/image8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2.png"/><Relationship Id="rId4" Type="http://schemas.openxmlformats.org/officeDocument/2006/relationships/image" Target="../media/image105.png"/><Relationship Id="rId5" Type="http://schemas.openxmlformats.org/officeDocument/2006/relationships/image" Target="../media/image10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5.png"/><Relationship Id="rId4" Type="http://schemas.openxmlformats.org/officeDocument/2006/relationships/image" Target="../media/image104.png"/><Relationship Id="rId5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2"/>
          <p:cNvSpPr txBox="1"/>
          <p:nvPr>
            <p:ph type="ctrTitle"/>
          </p:nvPr>
        </p:nvSpPr>
        <p:spPr>
          <a:xfrm>
            <a:off x="521525" y="1225300"/>
            <a:ext cx="28083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</a:pPr>
            <a:r>
              <a:rPr lang="ru" sz="2100">
                <a:solidFill>
                  <a:srgbClr val="000000"/>
                </a:solidFill>
              </a:rPr>
              <a:t>Analysis of attention maps to relate how the memory state and observation history affect each other and the next action prediction in SRMT.</a:t>
            </a:r>
            <a:endParaRPr sz="4100"/>
          </a:p>
        </p:txBody>
      </p:sp>
      <p:sp>
        <p:nvSpPr>
          <p:cNvPr id="542" name="Google Shape;542;p72"/>
          <p:cNvSpPr txBox="1"/>
          <p:nvPr>
            <p:ph idx="1" type="body"/>
          </p:nvPr>
        </p:nvSpPr>
        <p:spPr>
          <a:xfrm>
            <a:off x="521519" y="3565775"/>
            <a:ext cx="28083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Кушнарев Олег , Беляев Александр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Кривошеев Николай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Руководитель: Алсу Сагирова</a:t>
            </a:r>
            <a:endParaRPr sz="1100"/>
          </a:p>
        </p:txBody>
      </p:sp>
      <p:sp>
        <p:nvSpPr>
          <p:cNvPr id="543" name="Google Shape;543;p72"/>
          <p:cNvSpPr txBox="1"/>
          <p:nvPr>
            <p:ph idx="2" type="body"/>
          </p:nvPr>
        </p:nvSpPr>
        <p:spPr>
          <a:xfrm>
            <a:off x="521494" y="4245936"/>
            <a:ext cx="2808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@o_kushnarev, @belyaew_robots, 8-923-428-37-53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3"/>
          <p:cNvSpPr txBox="1"/>
          <p:nvPr>
            <p:ph type="title"/>
          </p:nvPr>
        </p:nvSpPr>
        <p:spPr>
          <a:xfrm>
            <a:off x="521494" y="1098345"/>
            <a:ext cx="36724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 Medium"/>
              <a:buNone/>
            </a:pPr>
            <a:r>
              <a:rPr lang="ru"/>
              <a:t>Содержание</a:t>
            </a:r>
            <a:endParaRPr/>
          </a:p>
        </p:txBody>
      </p:sp>
      <p:sp>
        <p:nvSpPr>
          <p:cNvPr id="549" name="Google Shape;549;p73"/>
          <p:cNvSpPr txBox="1"/>
          <p:nvPr/>
        </p:nvSpPr>
        <p:spPr>
          <a:xfrm>
            <a:off x="4582720" y="1236845"/>
            <a:ext cx="2897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</a:pPr>
            <a:r>
              <a:rPr b="0" lang="ru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73"/>
          <p:cNvSpPr txBox="1"/>
          <p:nvPr/>
        </p:nvSpPr>
        <p:spPr>
          <a:xfrm>
            <a:off x="4582720" y="2433251"/>
            <a:ext cx="3222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</a:pPr>
            <a:r>
              <a:rPr b="0" lang="ru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73"/>
          <p:cNvSpPr txBox="1"/>
          <p:nvPr/>
        </p:nvSpPr>
        <p:spPr>
          <a:xfrm>
            <a:off x="4582720" y="3435832"/>
            <a:ext cx="3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</a:pPr>
            <a:r>
              <a:rPr b="0" lang="ru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73"/>
          <p:cNvSpPr txBox="1"/>
          <p:nvPr/>
        </p:nvSpPr>
        <p:spPr>
          <a:xfrm>
            <a:off x="5220024" y="1236850"/>
            <a:ext cx="375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Изучение бэкграунда и постановка задачи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73"/>
          <p:cNvSpPr txBox="1"/>
          <p:nvPr/>
        </p:nvSpPr>
        <p:spPr>
          <a:xfrm>
            <a:off x="5220016" y="2433251"/>
            <a:ext cx="405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Реализация построения карт внимания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73"/>
          <p:cNvSpPr txBox="1"/>
          <p:nvPr/>
        </p:nvSpPr>
        <p:spPr>
          <a:xfrm>
            <a:off x="5220016" y="3435832"/>
            <a:ext cx="40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Анализ карт внимания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73"/>
          <p:cNvSpPr txBox="1"/>
          <p:nvPr/>
        </p:nvSpPr>
        <p:spPr>
          <a:xfrm>
            <a:off x="4582720" y="4319832"/>
            <a:ext cx="3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</a:pPr>
            <a:r>
              <a:rPr b="0" lang="ru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ru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73"/>
          <p:cNvSpPr txBox="1"/>
          <p:nvPr/>
        </p:nvSpPr>
        <p:spPr>
          <a:xfrm>
            <a:off x="5220016" y="4319832"/>
            <a:ext cx="40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Заключение и планы на будущее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4"/>
          <p:cNvSpPr txBox="1"/>
          <p:nvPr>
            <p:ph type="title"/>
          </p:nvPr>
        </p:nvSpPr>
        <p:spPr>
          <a:xfrm>
            <a:off x="521495" y="2294751"/>
            <a:ext cx="475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rPr lang="ru"/>
              <a:t>Изучение </a:t>
            </a:r>
            <a:r>
              <a:rPr lang="ru"/>
              <a:t>бэкграунда</a:t>
            </a:r>
            <a:r>
              <a:rPr lang="ru"/>
              <a:t> и п</a:t>
            </a:r>
            <a:r>
              <a:rPr lang="ru"/>
              <a:t>остановка задачи </a:t>
            </a:r>
            <a:endParaRPr/>
          </a:p>
        </p:txBody>
      </p:sp>
      <p:sp>
        <p:nvSpPr>
          <p:cNvPr id="562" name="Google Shape;562;p74"/>
          <p:cNvSpPr txBox="1"/>
          <p:nvPr>
            <p:ph idx="1" type="body"/>
          </p:nvPr>
        </p:nvSpPr>
        <p:spPr>
          <a:xfrm>
            <a:off x="467544" y="475712"/>
            <a:ext cx="1257556" cy="1040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</a:pPr>
            <a:r>
              <a:rPr lang="ru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5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Среда симуляции - Pogema</a:t>
            </a:r>
            <a:endParaRPr/>
          </a:p>
        </p:txBody>
      </p:sp>
      <p:sp>
        <p:nvSpPr>
          <p:cNvPr id="568" name="Google Shape;568;p75"/>
          <p:cNvSpPr txBox="1"/>
          <p:nvPr/>
        </p:nvSpPr>
        <p:spPr>
          <a:xfrm>
            <a:off x="521500" y="956700"/>
            <a:ext cx="4699200" cy="4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090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→"/>
            </a:pPr>
            <a:r>
              <a:rPr lang="ru" sz="1100">
                <a:latin typeface="Inter"/>
                <a:ea typeface="Inter"/>
                <a:cs typeface="Inter"/>
                <a:sym typeface="Inter"/>
              </a:rPr>
              <a:t>Задача агентов, дойти до точки, при этом координаты точки неизвестны агенту заранее, и в зависимости от совершенного 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действия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 и состояния он получает от среды награду.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14185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→"/>
            </a:pPr>
            <a:r>
              <a:rPr lang="ru" sz="1100">
                <a:latin typeface="Inter"/>
                <a:ea typeface="Inter"/>
                <a:cs typeface="Inter"/>
                <a:sym typeface="Inter"/>
              </a:rPr>
              <a:t>Задача усложняется ввиду того, что  цель агента всегда! находиться в противоположной комнате, пройти к которой можно исключительно через узкий коридор, где агенты не смогут разойтись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 sz="1100">
                <a:latin typeface="Inter"/>
                <a:ea typeface="Inter"/>
                <a:cs typeface="Inter"/>
                <a:sym typeface="Inter"/>
              </a:rPr>
              <a:t>Изменяемые параметры среды: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14185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→"/>
            </a:pPr>
            <a:r>
              <a:rPr lang="ru" sz="1100">
                <a:latin typeface="Inter"/>
                <a:ea typeface="Inter"/>
                <a:cs typeface="Inter"/>
                <a:sym typeface="Inter"/>
              </a:rPr>
              <a:t>Длина коридора (3, 9, 15)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100">
                <a:latin typeface="Inter"/>
                <a:ea typeface="Inter"/>
                <a:cs typeface="Inter"/>
                <a:sym typeface="Inter"/>
              </a:rPr>
              <a:t>Задача нашей команды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: исследовать и предложить методы интерпретации работы памяти агента с соотношением с картой рабочего пространства.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latin typeface="Inter"/>
                <a:ea typeface="Inter"/>
                <a:cs typeface="Inter"/>
                <a:sym typeface="Inter"/>
              </a:rPr>
              <a:t>Кушнарев Олег 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- разработка системы отображения карт внимания и карты среды.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latin typeface="Inter"/>
                <a:ea typeface="Inter"/>
                <a:cs typeface="Inter"/>
                <a:sym typeface="Inter"/>
              </a:rPr>
              <a:t>Беляев Александр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 - обучение решений, проведение экспериментов, анализ 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паттернов.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Inter"/>
                <a:ea typeface="Inter"/>
                <a:cs typeface="Inter"/>
                <a:sym typeface="Inter"/>
              </a:rPr>
              <a:t>Н</a:t>
            </a:r>
            <a:r>
              <a:rPr b="1" lang="ru" sz="1100">
                <a:latin typeface="Inter"/>
                <a:ea typeface="Inter"/>
                <a:cs typeface="Inter"/>
                <a:sym typeface="Inter"/>
              </a:rPr>
              <a:t>иколай Кривошеев</a:t>
            </a:r>
            <a:r>
              <a:rPr lang="ru" sz="1100">
                <a:latin typeface="Inter"/>
                <a:ea typeface="Inter"/>
                <a:cs typeface="Inter"/>
                <a:sym typeface="Inter"/>
              </a:rPr>
              <a:t> - обучение решений, проведение экспериментов, анализ паттернов.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75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70" name="Google Shape;57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763" y="837509"/>
            <a:ext cx="3452675" cy="340406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5"/>
          <p:cNvSpPr txBox="1"/>
          <p:nvPr/>
        </p:nvSpPr>
        <p:spPr>
          <a:xfrm>
            <a:off x="521494" y="4800308"/>
            <a:ext cx="502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</a:pPr>
            <a:r>
              <a:rPr lang="ru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Alsu Sagirova and Yuri Kuratov and Mikhail Burtsev, SRMT: Shared Memory for Multi-agent Lifelong Pathfinding, arXiv </a:t>
            </a:r>
            <a:endParaRPr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6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Изучение архитектуры SRMT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76"/>
          <p:cNvSpPr/>
          <p:nvPr/>
        </p:nvSpPr>
        <p:spPr>
          <a:xfrm>
            <a:off x="521550" y="994888"/>
            <a:ext cx="81009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Решение состоит в использовании метода Actor-Critic, PPO, обучающего нейронную сеть, состоящую из энкодера ResNet (3 слоя) и слоев self-attention cross-attention взятых из блока GPT2. При этом в качестве входа может использоваться информация с 8 шагов наблюдения агента, данные с памяти и данные о памяти других агентов.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76"/>
          <p:cNvSpPr txBox="1"/>
          <p:nvPr/>
        </p:nvSpPr>
        <p:spPr>
          <a:xfrm>
            <a:off x="521494" y="4800308"/>
            <a:ext cx="502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</a:pPr>
            <a:r>
              <a:rPr lang="ru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Alsu Sagirova and Yuri Kuratov and Mikhail Burtsev, SRMT: Shared Memory for Multi-agent Lifelong Pathfinding, arXiv</a:t>
            </a:r>
            <a:r>
              <a:rPr lang="ru" sz="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76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580" name="Google Shape;58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438" y="1951400"/>
            <a:ext cx="5289071" cy="26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6"/>
          <p:cNvSpPr txBox="1"/>
          <p:nvPr/>
        </p:nvSpPr>
        <p:spPr>
          <a:xfrm>
            <a:off x="479950" y="1951400"/>
            <a:ext cx="27597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Какие параметры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можно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менять: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Тип награды (</a:t>
            </a: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Sparse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Dense, </a:t>
            </a: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Moving Negative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Directional, Directional Negative)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Использование памяти (</a:t>
            </a: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Глобальная память, Память агента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Количество агентов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7"/>
          <p:cNvSpPr txBox="1"/>
          <p:nvPr>
            <p:ph type="title"/>
          </p:nvPr>
        </p:nvSpPr>
        <p:spPr>
          <a:xfrm>
            <a:off x="521495" y="2294751"/>
            <a:ext cx="4752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rPr lang="ru"/>
              <a:t>Реализация построения карт внимания</a:t>
            </a:r>
            <a:endParaRPr/>
          </a:p>
        </p:txBody>
      </p:sp>
      <p:sp>
        <p:nvSpPr>
          <p:cNvPr id="587" name="Google Shape;587;p77"/>
          <p:cNvSpPr txBox="1"/>
          <p:nvPr>
            <p:ph idx="1" type="body"/>
          </p:nvPr>
        </p:nvSpPr>
        <p:spPr>
          <a:xfrm>
            <a:off x="467551" y="475700"/>
            <a:ext cx="1429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</a:pPr>
            <a:r>
              <a:rPr lang="ru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2297"/>
            <a:ext cx="8267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78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Веса внимания</a:t>
            </a:r>
            <a:endParaRPr/>
          </a:p>
        </p:txBody>
      </p:sp>
      <p:cxnSp>
        <p:nvCxnSpPr>
          <p:cNvPr id="594" name="Google Shape;594;p78"/>
          <p:cNvCxnSpPr/>
          <p:nvPr/>
        </p:nvCxnSpPr>
        <p:spPr>
          <a:xfrm>
            <a:off x="249350" y="4761450"/>
            <a:ext cx="36090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78"/>
          <p:cNvCxnSpPr/>
          <p:nvPr/>
        </p:nvCxnSpPr>
        <p:spPr>
          <a:xfrm>
            <a:off x="963000" y="2942525"/>
            <a:ext cx="36090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9"/>
          <p:cNvSpPr txBox="1"/>
          <p:nvPr>
            <p:ph type="title"/>
          </p:nvPr>
        </p:nvSpPr>
        <p:spPr>
          <a:xfrm>
            <a:off x="521494" y="546497"/>
            <a:ext cx="8100900" cy="58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Веса внимания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2647"/>
            <a:ext cx="8839199" cy="13506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79"/>
          <p:cNvCxnSpPr>
            <a:stCxn id="601" idx="2"/>
          </p:cNvCxnSpPr>
          <p:nvPr/>
        </p:nvCxnSpPr>
        <p:spPr>
          <a:xfrm>
            <a:off x="4572000" y="2993266"/>
            <a:ext cx="29766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52400"/>
            <a:ext cx="4788325" cy="47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200" y="600500"/>
            <a:ext cx="2295876" cy="19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200" y="2950943"/>
            <a:ext cx="2295876" cy="1934307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80"/>
          <p:cNvSpPr txBox="1"/>
          <p:nvPr/>
        </p:nvSpPr>
        <p:spPr>
          <a:xfrm>
            <a:off x="3729925" y="191600"/>
            <a:ext cx="3620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Абсолютные координаты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1" name="Google Shape;611;p80"/>
          <p:cNvSpPr txBox="1"/>
          <p:nvPr/>
        </p:nvSpPr>
        <p:spPr>
          <a:xfrm>
            <a:off x="3729925" y="2565425"/>
            <a:ext cx="3620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Относительные</a:t>
            </a:r>
            <a:r>
              <a:rPr b="1" lang="ru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координаты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80"/>
          <p:cNvSpPr/>
          <p:nvPr/>
        </p:nvSpPr>
        <p:spPr>
          <a:xfrm>
            <a:off x="5655750" y="3228800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80"/>
          <p:cNvSpPr/>
          <p:nvPr/>
        </p:nvSpPr>
        <p:spPr>
          <a:xfrm>
            <a:off x="5655750" y="88047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4" name="Google Shape;614;p80"/>
          <p:cNvSpPr/>
          <p:nvPr/>
        </p:nvSpPr>
        <p:spPr>
          <a:xfrm>
            <a:off x="5270125" y="127382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80"/>
          <p:cNvSpPr/>
          <p:nvPr/>
        </p:nvSpPr>
        <p:spPr>
          <a:xfrm>
            <a:off x="5270125" y="182142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80"/>
          <p:cNvSpPr/>
          <p:nvPr/>
        </p:nvSpPr>
        <p:spPr>
          <a:xfrm>
            <a:off x="4695550" y="203352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80"/>
          <p:cNvSpPr/>
          <p:nvPr/>
        </p:nvSpPr>
        <p:spPr>
          <a:xfrm flipH="1" rot="10800000">
            <a:off x="5305275" y="3240500"/>
            <a:ext cx="333600" cy="106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8" name="Google Shape;618;p80"/>
          <p:cNvSpPr/>
          <p:nvPr/>
        </p:nvSpPr>
        <p:spPr>
          <a:xfrm flipH="1" rot="5400000">
            <a:off x="4807525" y="3865000"/>
            <a:ext cx="1054800" cy="106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80"/>
          <p:cNvSpPr/>
          <p:nvPr/>
        </p:nvSpPr>
        <p:spPr>
          <a:xfrm flipH="1" rot="10800000">
            <a:off x="4777025" y="4388025"/>
            <a:ext cx="493200" cy="106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1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Карты внимания</a:t>
            </a:r>
            <a:endParaRPr/>
          </a:p>
        </p:txBody>
      </p:sp>
      <p:pic>
        <p:nvPicPr>
          <p:cNvPr id="625" name="Google Shape;625;p81" title="Screen Recording 2025-07-10 at 00.53.09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89897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81" title="bottlenecks9-v_corr-3_len_attn_type_0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6650" y="642647"/>
            <a:ext cx="3074095" cy="4001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2"/>
          <p:cNvSpPr txBox="1"/>
          <p:nvPr>
            <p:ph type="title"/>
          </p:nvPr>
        </p:nvSpPr>
        <p:spPr>
          <a:xfrm>
            <a:off x="521495" y="2294751"/>
            <a:ext cx="475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rPr lang="ru"/>
              <a:t>Анализ карт внимания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632" name="Google Shape;632;p82"/>
          <p:cNvSpPr txBox="1"/>
          <p:nvPr>
            <p:ph idx="1" type="body"/>
          </p:nvPr>
        </p:nvSpPr>
        <p:spPr>
          <a:xfrm>
            <a:off x="467551" y="475700"/>
            <a:ext cx="1429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</a:pPr>
            <a:r>
              <a:rPr lang="ru"/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3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Постановка эксперимента</a:t>
            </a:r>
            <a:endParaRPr/>
          </a:p>
        </p:txBody>
      </p:sp>
      <p:sp>
        <p:nvSpPr>
          <p:cNvPr id="638" name="Google Shape;638;p83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9" name="Google Shape;639;p83"/>
          <p:cNvSpPr txBox="1"/>
          <p:nvPr/>
        </p:nvSpPr>
        <p:spPr>
          <a:xfrm>
            <a:off x="595350" y="2885650"/>
            <a:ext cx="40497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Красный агент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должен обращать внимание на то, что он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пропустил синего агента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Особенно это важно в длинных лабиринтах.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Синий агент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должен обращать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внимание на память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красного агента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чтобы понять в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какую сторону идти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На момент встречи оба агента должны явно обращать на это внимание.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будет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блудить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при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входе в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соседнюю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комнату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если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не будет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видеть точку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сразу и не будет иметь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глобальной памяти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Агент обученный на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Moving Negative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будет совершать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остановки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коридоре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или вообще не будет в него заходить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0" name="Google Shape;640;p83"/>
          <p:cNvSpPr txBox="1"/>
          <p:nvPr/>
        </p:nvSpPr>
        <p:spPr>
          <a:xfrm>
            <a:off x="595356" y="2654658"/>
            <a:ext cx="378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Гипотезы </a:t>
            </a:r>
            <a:endParaRPr sz="1100"/>
          </a:p>
        </p:txBody>
      </p:sp>
      <p:sp>
        <p:nvSpPr>
          <p:cNvPr id="641" name="Google Shape;641;p83"/>
          <p:cNvSpPr txBox="1"/>
          <p:nvPr/>
        </p:nvSpPr>
        <p:spPr>
          <a:xfrm>
            <a:off x="4733645" y="2654658"/>
            <a:ext cx="38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На что обращаем внимание</a:t>
            </a:r>
            <a:endParaRPr sz="1100"/>
          </a:p>
        </p:txBody>
      </p:sp>
      <p:sp>
        <p:nvSpPr>
          <p:cNvPr id="642" name="Google Shape;642;p83"/>
          <p:cNvSpPr txBox="1"/>
          <p:nvPr/>
        </p:nvSpPr>
        <p:spPr>
          <a:xfrm>
            <a:off x="4733793" y="2934155"/>
            <a:ext cx="3888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Точка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встречи агентов в коридоре.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Точка пропуска синего агента красным. В наших опытах, всегда пропускает красный агент.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Движение красного агента после пропуска синего.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Движение агента при входе в комнату.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5. Достижение агентом целевой точки.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83"/>
          <p:cNvSpPr txBox="1"/>
          <p:nvPr/>
        </p:nvSpPr>
        <p:spPr>
          <a:xfrm>
            <a:off x="574518" y="1082450"/>
            <a:ext cx="7995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Мы решили проанализировать карты внимания с изменением следующих параметров экспериментов: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Тип подкрепления - 2 типа -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Sparse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Moving Negative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Использование памяти - 3 варианта -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оба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вида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памяти присутствуют,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отсутствует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глобальная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память, 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отсутствуют</a:t>
            </a:r>
            <a:r>
              <a:rPr b="1"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оба вида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памяти.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Размер длины 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коридора</a:t>
            </a: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- 3 варианта - 3 (маленький, агенты сразу видят друг друга, на входе в корридор), 9 (средний, агентам нужно сделать несколько шагов  по лабиринту), 15 (большой, агенты должны сделать много шагов навстречу друг другу)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По итогу проведено 18 экспериментов, и построены 72 карты внимания.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4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Общие </a:t>
            </a:r>
            <a:r>
              <a:rPr lang="ru"/>
              <a:t>паттерны</a:t>
            </a:r>
            <a:endParaRPr/>
          </a:p>
        </p:txBody>
      </p:sp>
      <p:sp>
        <p:nvSpPr>
          <p:cNvPr id="649" name="Google Shape;649;p84"/>
          <p:cNvSpPr txBox="1"/>
          <p:nvPr/>
        </p:nvSpPr>
        <p:spPr>
          <a:xfrm>
            <a:off x="691350" y="1093775"/>
            <a:ext cx="810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Начальное внимание сильно зависит от использования памяти. Без глобальной памяти система смотрит более сосредоточено. Это сохраняется для разных масштабов.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Идет постепенный вектор смещения информации в сторону старых значений. Но когда происходит проход агента он сбрасывается и опять начинает копить информацию.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Веса cross-attention равномерно распределен между всеми векторами.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0" name="Google Shape;650;p84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51" name="Google Shape;65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50" y="2134425"/>
            <a:ext cx="1863693" cy="19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84"/>
          <p:cNvPicPr preferRelativeResize="0"/>
          <p:nvPr/>
        </p:nvPicPr>
        <p:blipFill rotWithShape="1">
          <a:blip r:embed="rId4">
            <a:alphaModFix/>
          </a:blip>
          <a:srcRect b="35870" l="0" r="0" t="34452"/>
          <a:stretch/>
        </p:blipFill>
        <p:spPr>
          <a:xfrm>
            <a:off x="2845175" y="2134437"/>
            <a:ext cx="5312950" cy="128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84"/>
          <p:cNvPicPr preferRelativeResize="0"/>
          <p:nvPr/>
        </p:nvPicPr>
        <p:blipFill rotWithShape="1">
          <a:blip r:embed="rId5">
            <a:alphaModFix/>
          </a:blip>
          <a:srcRect b="5925" l="0" r="0" t="64330"/>
          <a:stretch/>
        </p:blipFill>
        <p:spPr>
          <a:xfrm>
            <a:off x="2738475" y="3417388"/>
            <a:ext cx="5419651" cy="1311701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4"/>
          <p:cNvSpPr txBox="1"/>
          <p:nvPr/>
        </p:nvSpPr>
        <p:spPr>
          <a:xfrm>
            <a:off x="8051925" y="2571750"/>
            <a:ext cx="9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Карты внимания без глобальной памяти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Google Shape;655;p84"/>
          <p:cNvSpPr txBox="1"/>
          <p:nvPr/>
        </p:nvSpPr>
        <p:spPr>
          <a:xfrm>
            <a:off x="8051925" y="3894075"/>
            <a:ext cx="9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Карты внимания с глобальной памятью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Google Shape;656;p84"/>
          <p:cNvSpPr txBox="1"/>
          <p:nvPr/>
        </p:nvSpPr>
        <p:spPr>
          <a:xfrm>
            <a:off x="1128650" y="4157575"/>
            <a:ext cx="98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Карта внимания cross-attention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5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Общие паттерны</a:t>
            </a:r>
            <a:endParaRPr/>
          </a:p>
        </p:txBody>
      </p:sp>
      <p:pic>
        <p:nvPicPr>
          <p:cNvPr id="662" name="Google Shape;662;p85" title="bottlenecks9-v_corr-3_len_attn_type_0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174" y="1176825"/>
            <a:ext cx="2691625" cy="350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85" title="bottlenecks9-v_corr-3_len_attn_type_1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650" y="1315275"/>
            <a:ext cx="2638550" cy="34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5"/>
          <p:cNvSpPr txBox="1"/>
          <p:nvPr/>
        </p:nvSpPr>
        <p:spPr>
          <a:xfrm>
            <a:off x="6452800" y="461150"/>
            <a:ext cx="98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Карты внимания без глобальной памяти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5" name="Google Shape;665;p85"/>
          <p:cNvSpPr txBox="1"/>
          <p:nvPr/>
        </p:nvSpPr>
        <p:spPr>
          <a:xfrm>
            <a:off x="3579438" y="484250"/>
            <a:ext cx="9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Карты внимания с глобальной памятью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66" name="Google Shape;666;p85" title="bottlenecks9-v_corr-3_len_attn_type_0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5851" y="1031300"/>
            <a:ext cx="2803225" cy="36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85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6"/>
          <p:cNvSpPr/>
          <p:nvPr/>
        </p:nvSpPr>
        <p:spPr>
          <a:xfrm>
            <a:off x="521494" y="2691024"/>
            <a:ext cx="8100900" cy="190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270000" lIns="270000" spcFirstLastPara="1" rIns="270000" wrap="square" tIns="27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расположите горизонтальное </a:t>
            </a:r>
            <a:b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изображение в границах прямоугольника</a:t>
            </a:r>
            <a:endParaRPr sz="1100"/>
          </a:p>
        </p:txBody>
      </p:sp>
      <p:sp>
        <p:nvSpPr>
          <p:cNvPr id="673" name="Google Shape;673;p86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Еще один паттерн - Проход по </a:t>
            </a:r>
            <a:r>
              <a:rPr lang="ru"/>
              <a:t>коридору</a:t>
            </a:r>
            <a:endParaRPr/>
          </a:p>
        </p:txBody>
      </p:sp>
      <p:sp>
        <p:nvSpPr>
          <p:cNvPr id="674" name="Google Shape;674;p86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75" name="Google Shape;675;p86"/>
          <p:cNvPicPr preferRelativeResize="0"/>
          <p:nvPr/>
        </p:nvPicPr>
        <p:blipFill rotWithShape="1">
          <a:blip r:embed="rId3">
            <a:alphaModFix/>
          </a:blip>
          <a:srcRect b="0" l="0" r="0" t="53262"/>
          <a:stretch/>
        </p:blipFill>
        <p:spPr>
          <a:xfrm>
            <a:off x="1226449" y="2717625"/>
            <a:ext cx="7811426" cy="19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86"/>
          <p:cNvPicPr preferRelativeResize="0"/>
          <p:nvPr/>
        </p:nvPicPr>
        <p:blipFill rotWithShape="1">
          <a:blip r:embed="rId3">
            <a:alphaModFix/>
          </a:blip>
          <a:srcRect b="56834" l="46860" r="41328" t="-728"/>
          <a:stretch/>
        </p:blipFill>
        <p:spPr>
          <a:xfrm>
            <a:off x="271853" y="2717625"/>
            <a:ext cx="982296" cy="19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86"/>
          <p:cNvSpPr txBox="1"/>
          <p:nvPr/>
        </p:nvSpPr>
        <p:spPr>
          <a:xfrm>
            <a:off x="521500" y="1093775"/>
            <a:ext cx="827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ситуации когда любой из агентов долго движется по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коридору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вектора внимания начинают смещаться в область памяти самых старых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наблюдений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и памяти агента.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Данный фактор достаточно логичен, поскольку в коридоре обстановка вокруг агента не меняется, и трудно зацепиться за какую-то значимую информацию, и как следствие интересным фактом является именно ориентация на приблизительный вход в лабиринт.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7"/>
          <p:cNvSpPr/>
          <p:nvPr/>
        </p:nvSpPr>
        <p:spPr>
          <a:xfrm>
            <a:off x="533984" y="2691024"/>
            <a:ext cx="3942600" cy="190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270000" lIns="270000" spcFirstLastPara="1" rIns="270000" wrap="square" tIns="27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расположите горизонтальное </a:t>
            </a:r>
            <a:b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изображение в границах прямоугольника</a:t>
            </a:r>
            <a:endParaRPr sz="1100"/>
          </a:p>
        </p:txBody>
      </p:sp>
      <p:sp>
        <p:nvSpPr>
          <p:cNvPr id="683" name="Google Shape;683;p87"/>
          <p:cNvSpPr/>
          <p:nvPr/>
        </p:nvSpPr>
        <p:spPr>
          <a:xfrm>
            <a:off x="4679957" y="2691024"/>
            <a:ext cx="3942600" cy="190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270000" lIns="270000" spcFirstLastPara="1" rIns="270000" wrap="square" tIns="27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расположите горизонтальное </a:t>
            </a:r>
            <a:b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изображение в границах прямоугольника</a:t>
            </a:r>
            <a:endParaRPr sz="1100"/>
          </a:p>
        </p:txBody>
      </p:sp>
      <p:sp>
        <p:nvSpPr>
          <p:cNvPr id="684" name="Google Shape;684;p87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Паттерн пропуска другого агента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685" name="Google Shape;685;p87"/>
          <p:cNvSpPr txBox="1"/>
          <p:nvPr/>
        </p:nvSpPr>
        <p:spPr>
          <a:xfrm>
            <a:off x="691350" y="1093775"/>
            <a:ext cx="810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ситуации когда агент пропускает другого агента, возникает интересный паттерн в карте активности. Агент с каждым следующим шагом больше внимания начинает “уделять внимания” именно наблюдению когда он пропускал другого агента.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Данный паттерн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проявляется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и на других размерах карт.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87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87" name="Google Shape;687;p87"/>
          <p:cNvPicPr preferRelativeResize="0"/>
          <p:nvPr/>
        </p:nvPicPr>
        <p:blipFill rotWithShape="1">
          <a:blip r:embed="rId3">
            <a:alphaModFix/>
          </a:blip>
          <a:srcRect b="71331" l="43791" r="42965" t="0"/>
          <a:stretch/>
        </p:blipFill>
        <p:spPr>
          <a:xfrm>
            <a:off x="533975" y="2691025"/>
            <a:ext cx="1154285" cy="190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87"/>
          <p:cNvPicPr preferRelativeResize="0"/>
          <p:nvPr/>
        </p:nvPicPr>
        <p:blipFill rotWithShape="1">
          <a:blip r:embed="rId3">
            <a:alphaModFix/>
          </a:blip>
          <a:srcRect b="33383" l="74589" r="3297" t="34448"/>
          <a:stretch/>
        </p:blipFill>
        <p:spPr>
          <a:xfrm>
            <a:off x="1688250" y="2691025"/>
            <a:ext cx="1717674" cy="190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87"/>
          <p:cNvPicPr preferRelativeResize="0"/>
          <p:nvPr/>
        </p:nvPicPr>
        <p:blipFill rotWithShape="1">
          <a:blip r:embed="rId4">
            <a:alphaModFix/>
          </a:blip>
          <a:srcRect b="71071" l="44506" r="42966" t="0"/>
          <a:stretch/>
        </p:blipFill>
        <p:spPr>
          <a:xfrm>
            <a:off x="3405925" y="2699825"/>
            <a:ext cx="1071976" cy="188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87"/>
          <p:cNvPicPr preferRelativeResize="0"/>
          <p:nvPr/>
        </p:nvPicPr>
        <p:blipFill rotWithShape="1">
          <a:blip r:embed="rId4">
            <a:alphaModFix/>
          </a:blip>
          <a:srcRect b="33253" l="75099" r="3889" t="34658"/>
          <a:stretch/>
        </p:blipFill>
        <p:spPr>
          <a:xfrm>
            <a:off x="4477900" y="2699825"/>
            <a:ext cx="1620949" cy="18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87"/>
          <p:cNvPicPr preferRelativeResize="0"/>
          <p:nvPr/>
        </p:nvPicPr>
        <p:blipFill rotWithShape="1">
          <a:blip r:embed="rId5">
            <a:alphaModFix/>
          </a:blip>
          <a:srcRect b="70133" l="44502" r="43279" t="0"/>
          <a:stretch/>
        </p:blipFill>
        <p:spPr>
          <a:xfrm>
            <a:off x="6100175" y="2699825"/>
            <a:ext cx="1022054" cy="190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3550" y="2699825"/>
            <a:ext cx="1562958" cy="18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8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Карта внимания до встречи агентов</a:t>
            </a:r>
            <a:endParaRPr/>
          </a:p>
        </p:txBody>
      </p:sp>
      <p:sp>
        <p:nvSpPr>
          <p:cNvPr id="698" name="Google Shape;698;p88"/>
          <p:cNvSpPr txBox="1"/>
          <p:nvPr/>
        </p:nvSpPr>
        <p:spPr>
          <a:xfrm>
            <a:off x="691350" y="1093775"/>
            <a:ext cx="810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данных изображениях приведен пример обычной карты внимания. Видно, что она распределена более равномерно. Большую часть симуляции карты внимания распределены равномерно.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p88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00" name="Google Shape;70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95" y="1904150"/>
            <a:ext cx="3534180" cy="29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450" y="2150438"/>
            <a:ext cx="4969326" cy="1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0491" y="3582125"/>
            <a:ext cx="4969260" cy="12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88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88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9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Интересный выброс!</a:t>
            </a:r>
            <a:endParaRPr/>
          </a:p>
        </p:txBody>
      </p:sp>
      <p:sp>
        <p:nvSpPr>
          <p:cNvPr id="710" name="Google Shape;710;p89"/>
          <p:cNvSpPr txBox="1"/>
          <p:nvPr/>
        </p:nvSpPr>
        <p:spPr>
          <a:xfrm>
            <a:off x="691350" y="1093775"/>
            <a:ext cx="81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 анализе карт внимания был найден странный </a:t>
            </a: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“выброс”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Агент 2 (красный) резко обратился к другим ячейкам памяти.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 данным обратилась Head 1 и Head 3. Обращение произошло к данным 2 и 4 хода назад.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89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12" name="Google Shape;712;p89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3" name="Google Shape;713;p89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4" name="Google Shape;7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04" y="1905625"/>
            <a:ext cx="3534174" cy="29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0808" y="2150451"/>
            <a:ext cx="4948629" cy="12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4732" y="3602000"/>
            <a:ext cx="4960758" cy="12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0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Интересный выброс!</a:t>
            </a:r>
            <a:endParaRPr/>
          </a:p>
        </p:txBody>
      </p:sp>
      <p:sp>
        <p:nvSpPr>
          <p:cNvPr id="722" name="Google Shape;722;p90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23" name="Google Shape;7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948" y="2510000"/>
            <a:ext cx="2268100" cy="188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299" y="2510011"/>
            <a:ext cx="2268100" cy="1888311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90"/>
          <p:cNvSpPr txBox="1"/>
          <p:nvPr/>
        </p:nvSpPr>
        <p:spPr>
          <a:xfrm>
            <a:off x="691350" y="4398325"/>
            <a:ext cx="226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Состояние 4 хода назад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90"/>
          <p:cNvSpPr txBox="1"/>
          <p:nvPr/>
        </p:nvSpPr>
        <p:spPr>
          <a:xfrm>
            <a:off x="3438000" y="4398325"/>
            <a:ext cx="226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Состояние 2 хода назад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90"/>
          <p:cNvSpPr txBox="1"/>
          <p:nvPr/>
        </p:nvSpPr>
        <p:spPr>
          <a:xfrm>
            <a:off x="6524200" y="4398325"/>
            <a:ext cx="226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Текущее состояние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90"/>
          <p:cNvSpPr txBox="1"/>
          <p:nvPr/>
        </p:nvSpPr>
        <p:spPr>
          <a:xfrm>
            <a:off x="2146275" y="9383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9" name="Google Shape;72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6757" y="1184663"/>
            <a:ext cx="4960758" cy="12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4150" y="2511188"/>
            <a:ext cx="2268094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1"/>
          <p:cNvSpPr txBox="1"/>
          <p:nvPr>
            <p:ph type="title"/>
          </p:nvPr>
        </p:nvSpPr>
        <p:spPr>
          <a:xfrm>
            <a:off x="521495" y="2294751"/>
            <a:ext cx="4752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rPr lang="ru"/>
              <a:t>Заключение и планы на будущее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736" name="Google Shape;736;p91"/>
          <p:cNvSpPr txBox="1"/>
          <p:nvPr>
            <p:ph idx="1" type="body"/>
          </p:nvPr>
        </p:nvSpPr>
        <p:spPr>
          <a:xfrm>
            <a:off x="467550" y="475700"/>
            <a:ext cx="15261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Inter"/>
              <a:buNone/>
            </a:pPr>
            <a:r>
              <a:rPr lang="ru"/>
              <a:t>04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2"/>
          <p:cNvSpPr txBox="1"/>
          <p:nvPr>
            <p:ph type="title"/>
          </p:nvPr>
        </p:nvSpPr>
        <p:spPr>
          <a:xfrm>
            <a:off x="521494" y="546497"/>
            <a:ext cx="810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742" name="Google Shape;742;p92"/>
          <p:cNvSpPr txBox="1"/>
          <p:nvPr/>
        </p:nvSpPr>
        <p:spPr>
          <a:xfrm>
            <a:off x="521494" y="1460225"/>
            <a:ext cx="378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/>
          </a:p>
        </p:txBody>
      </p:sp>
      <p:sp>
        <p:nvSpPr>
          <p:cNvPr id="743" name="Google Shape;743;p92"/>
          <p:cNvSpPr txBox="1"/>
          <p:nvPr/>
        </p:nvSpPr>
        <p:spPr>
          <a:xfrm>
            <a:off x="521494" y="1062653"/>
            <a:ext cx="378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Что сделано?</a:t>
            </a:r>
            <a:r>
              <a:rPr lang="ru" sz="15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 </a:t>
            </a:r>
            <a:endParaRPr sz="1100"/>
          </a:p>
        </p:txBody>
      </p:sp>
      <p:sp>
        <p:nvSpPr>
          <p:cNvPr id="744" name="Google Shape;744;p92"/>
          <p:cNvSpPr txBox="1"/>
          <p:nvPr/>
        </p:nvSpPr>
        <p:spPr>
          <a:xfrm>
            <a:off x="4734019" y="1059582"/>
            <a:ext cx="51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Какой дальнейший план</a:t>
            </a:r>
            <a:endParaRPr sz="1100"/>
          </a:p>
        </p:txBody>
      </p:sp>
      <p:sp>
        <p:nvSpPr>
          <p:cNvPr id="745" name="Google Shape;745;p92"/>
          <p:cNvSpPr txBox="1"/>
          <p:nvPr/>
        </p:nvSpPr>
        <p:spPr>
          <a:xfrm>
            <a:off x="4734018" y="1455904"/>
            <a:ext cx="38883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8200" lvl="0" marL="2160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Подумать о переходе к численным метрикам, а не к качественному анализу.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Попробовать обучить автоэнкодер (с увеличением размерности) дабы перевести данные вектора внимания (памяти) к виду карты.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Попробовать провести кластеризацию вектора внимания/памяти, выделить ключевых представителей кластеров и интерпретировать их.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Перейти к задаче обучения агентов без учета планировщика движений.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92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7" name="Google Shape;747;p92"/>
          <p:cNvSpPr txBox="1"/>
          <p:nvPr/>
        </p:nvSpPr>
        <p:spPr>
          <a:xfrm>
            <a:off x="467643" y="1518804"/>
            <a:ext cx="38883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8200" lvl="0" marL="2160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Изучены предлагаемый метод решения задачи управления агентами и листинг решения.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Реализована программа для пошагового построения карт внимания и визуализации состояния лабиринта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Проведен ряд экспериментов, с разными вариантами обучения, видами памяти и длиной лабиринта.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48200" lvl="0" marL="2160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→"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Проведен первичный анализ полученных результатов, определены возможные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паттерны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отображения ситуации в карте внимания.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3"/>
          <p:cNvSpPr txBox="1"/>
          <p:nvPr>
            <p:ph type="title"/>
          </p:nvPr>
        </p:nvSpPr>
        <p:spPr>
          <a:xfrm>
            <a:off x="691350" y="456675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Анализ карт значений. Что на выходе Self-Attention.</a:t>
            </a:r>
            <a:endParaRPr/>
          </a:p>
        </p:txBody>
      </p:sp>
      <p:sp>
        <p:nvSpPr>
          <p:cNvPr id="753" name="Google Shape;753;p93"/>
          <p:cNvSpPr txBox="1"/>
          <p:nvPr/>
        </p:nvSpPr>
        <p:spPr>
          <a:xfrm>
            <a:off x="691350" y="747675"/>
            <a:ext cx="81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Были проанализированы выходные значения после self-attention (именно выводы, а не карты внимания).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Идея: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что обратила внимание видно, а что получилось на выходе? Какое итоговый ответ?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Тут выходы Head 0 - 2 не менялись, есть небольшие изменения в Head 3 на новой итерации данных!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93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55" name="Google Shape;75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950" y="1548063"/>
            <a:ext cx="4630362" cy="11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93"/>
          <p:cNvSpPr txBox="1"/>
          <p:nvPr/>
        </p:nvSpPr>
        <p:spPr>
          <a:xfrm>
            <a:off x="3887475" y="1301763"/>
            <a:ext cx="4734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(синий). До встречи.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7" name="Google Shape;75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939" y="3326062"/>
            <a:ext cx="4630386" cy="11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93"/>
          <p:cNvSpPr txBox="1"/>
          <p:nvPr/>
        </p:nvSpPr>
        <p:spPr>
          <a:xfrm>
            <a:off x="3991950" y="3051663"/>
            <a:ext cx="463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(синий). Встреча.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9" name="Google Shape;759;p93"/>
          <p:cNvSpPr txBox="1"/>
          <p:nvPr/>
        </p:nvSpPr>
        <p:spPr>
          <a:xfrm>
            <a:off x="691350" y="1498975"/>
            <a:ext cx="203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Встреча агентов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0" name="Google Shape;76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575" y="1745275"/>
            <a:ext cx="2328540" cy="30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/>
          <p:nvPr>
            <p:ph type="title"/>
          </p:nvPr>
        </p:nvSpPr>
        <p:spPr>
          <a:xfrm>
            <a:off x="691350" y="456675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Анализ карт значений. Что на выходе Self-Attention.</a:t>
            </a:r>
            <a:endParaRPr/>
          </a:p>
        </p:txBody>
      </p:sp>
      <p:sp>
        <p:nvSpPr>
          <p:cNvPr id="766" name="Google Shape;766;p94"/>
          <p:cNvSpPr txBox="1"/>
          <p:nvPr/>
        </p:nvSpPr>
        <p:spPr>
          <a:xfrm>
            <a:off x="691350" y="747675"/>
            <a:ext cx="810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Спустя какое-то время после встречи ответы от Head 3 сильно меняются!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Ответы от Head 0 - 2 по прежнему не изменились.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Предварительный вывод, что за анализ встречи агентов отвечает Head 3.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Других массовых изменений в Heads не найдено!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7" name="Google Shape;767;p94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68" name="Google Shape;76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339" y="1773362"/>
            <a:ext cx="4630386" cy="11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94"/>
          <p:cNvSpPr txBox="1"/>
          <p:nvPr/>
        </p:nvSpPr>
        <p:spPr>
          <a:xfrm>
            <a:off x="4054350" y="1498963"/>
            <a:ext cx="463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(синий). Встреча.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0" name="Google Shape;770;p94"/>
          <p:cNvSpPr txBox="1"/>
          <p:nvPr/>
        </p:nvSpPr>
        <p:spPr>
          <a:xfrm>
            <a:off x="691350" y="1498975"/>
            <a:ext cx="203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Встреча агентов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1" name="Google Shape;77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575" y="1745275"/>
            <a:ext cx="2328540" cy="30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4314" y="3408929"/>
            <a:ext cx="4630449" cy="11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94"/>
          <p:cNvSpPr txBox="1"/>
          <p:nvPr/>
        </p:nvSpPr>
        <p:spPr>
          <a:xfrm>
            <a:off x="3684825" y="3172650"/>
            <a:ext cx="545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(синий). Спустя 2 итерации после встречи.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5"/>
          <p:cNvSpPr txBox="1"/>
          <p:nvPr>
            <p:ph type="title"/>
          </p:nvPr>
        </p:nvSpPr>
        <p:spPr>
          <a:xfrm>
            <a:off x="691350" y="456675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Анализ карт значений. Что на выходе Self-Attention.</a:t>
            </a:r>
            <a:endParaRPr/>
          </a:p>
        </p:txBody>
      </p:sp>
      <p:sp>
        <p:nvSpPr>
          <p:cNvPr id="779" name="Google Shape;779;p95"/>
          <p:cNvSpPr txBox="1"/>
          <p:nvPr/>
        </p:nvSpPr>
        <p:spPr>
          <a:xfrm>
            <a:off x="691350" y="747675"/>
            <a:ext cx="81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Агенту 2 (красный), 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несмотря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на изменение направления движения, значения ответов self-attention почти не изменились.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Один из агентов не реагирует на встречу! (изменилось пара чисел)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0" name="Google Shape;780;p95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1" name="Google Shape;781;p95"/>
          <p:cNvSpPr txBox="1"/>
          <p:nvPr/>
        </p:nvSpPr>
        <p:spPr>
          <a:xfrm>
            <a:off x="4054350" y="1498963"/>
            <a:ext cx="463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(красный). До встречи.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2" name="Google Shape;782;p95"/>
          <p:cNvSpPr txBox="1"/>
          <p:nvPr/>
        </p:nvSpPr>
        <p:spPr>
          <a:xfrm>
            <a:off x="691350" y="1498975"/>
            <a:ext cx="203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Встреча агентов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3" name="Google Shape;78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75" y="1745275"/>
            <a:ext cx="2328540" cy="30934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95"/>
          <p:cNvSpPr txBox="1"/>
          <p:nvPr/>
        </p:nvSpPr>
        <p:spPr>
          <a:xfrm>
            <a:off x="3684825" y="3172650"/>
            <a:ext cx="545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(красный). Спустя 2 итерации после встречи.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5" name="Google Shape;78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4299" y="1773350"/>
            <a:ext cx="4630552" cy="11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7334" y="3408925"/>
            <a:ext cx="4627516" cy="11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96"/>
          <p:cNvSpPr txBox="1"/>
          <p:nvPr>
            <p:ph type="title"/>
          </p:nvPr>
        </p:nvSpPr>
        <p:spPr>
          <a:xfrm>
            <a:off x="521494" y="546497"/>
            <a:ext cx="8100900" cy="2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</a:t>
            </a:r>
            <a:r>
              <a:rPr lang="ru"/>
              <a:t> остановки</a:t>
            </a:r>
            <a:endParaRPr/>
          </a:p>
        </p:txBody>
      </p:sp>
      <p:pic>
        <p:nvPicPr>
          <p:cNvPr id="792" name="Google Shape;79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00" y="986210"/>
            <a:ext cx="8953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850" y="986199"/>
            <a:ext cx="1488000" cy="17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3388" y="991685"/>
            <a:ext cx="1399550" cy="162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1076" y="3189336"/>
            <a:ext cx="1399549" cy="16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03400" y="3194798"/>
            <a:ext cx="1399550" cy="162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69950" y="3138122"/>
            <a:ext cx="9334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9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2450" y="3076010"/>
            <a:ext cx="9334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9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69950" y="986210"/>
            <a:ext cx="9334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9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29163" y="695685"/>
            <a:ext cx="141922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9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06763" y="967335"/>
            <a:ext cx="1809519" cy="17712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2" name="Google Shape;802;p96"/>
          <p:cNvCxnSpPr/>
          <p:nvPr/>
        </p:nvCxnSpPr>
        <p:spPr>
          <a:xfrm>
            <a:off x="5600400" y="782250"/>
            <a:ext cx="0" cy="41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7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Интересный выброс!</a:t>
            </a:r>
            <a:endParaRPr/>
          </a:p>
        </p:txBody>
      </p:sp>
      <p:sp>
        <p:nvSpPr>
          <p:cNvPr id="808" name="Google Shape;808;p97"/>
          <p:cNvSpPr txBox="1"/>
          <p:nvPr/>
        </p:nvSpPr>
        <p:spPr>
          <a:xfrm>
            <a:off x="691350" y="1093775"/>
            <a:ext cx="81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При анализе карт внимания был найден странный </a:t>
            </a:r>
            <a:r>
              <a:rPr b="1"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“выброс”</a:t>
            </a: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Агент 2 (красный) резко обратился к другим ячейкам памяти.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 данным обратилась Head 1 и Head 3. Обращение произошло к данным 2 и 4 хода назад.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9" name="Google Shape;809;p97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0" name="Google Shape;810;p97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Google Shape;811;p97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2" name="Google Shape;81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04" y="1905625"/>
            <a:ext cx="3534174" cy="29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0808" y="2150451"/>
            <a:ext cx="4948629" cy="12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4732" y="3602000"/>
            <a:ext cx="4960758" cy="12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8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Карта внимания до встречи агентов</a:t>
            </a:r>
            <a:endParaRPr/>
          </a:p>
        </p:txBody>
      </p:sp>
      <p:sp>
        <p:nvSpPr>
          <p:cNvPr id="820" name="Google Shape;820;p98"/>
          <p:cNvSpPr txBox="1"/>
          <p:nvPr/>
        </p:nvSpPr>
        <p:spPr>
          <a:xfrm>
            <a:off x="691350" y="1093775"/>
            <a:ext cx="81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Тут показано то, как выглядит память агентов до встречи.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1" name="Google Shape;821;p98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22" name="Google Shape;82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95" y="1904150"/>
            <a:ext cx="3534180" cy="29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463" y="2150438"/>
            <a:ext cx="4969326" cy="1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291" y="3582125"/>
            <a:ext cx="4969260" cy="12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98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6" name="Google Shape;826;p98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9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Карта внимания при встрече агентов</a:t>
            </a:r>
            <a:endParaRPr/>
          </a:p>
        </p:txBody>
      </p:sp>
      <p:sp>
        <p:nvSpPr>
          <p:cNvPr id="832" name="Google Shape;832;p99"/>
          <p:cNvSpPr txBox="1"/>
          <p:nvPr/>
        </p:nvSpPr>
        <p:spPr>
          <a:xfrm>
            <a:off x="691350" y="1093775"/>
            <a:ext cx="810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Тут показано то, как выглядит память агентов после встречи.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Явный шаблон не видно, но вроде обратила внимание на память в ячейке 6 и 8. Возможно тут агент находящийся выше всегда пропускает агента снизу.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Google Shape;833;p99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34" name="Google Shape;834;p99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5" name="Google Shape;835;p99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6" name="Google Shape;83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399" y="1905633"/>
            <a:ext cx="3534175" cy="294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150" y="2150450"/>
            <a:ext cx="4969326" cy="122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0163" y="3584675"/>
            <a:ext cx="4969299" cy="12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0"/>
          <p:cNvSpPr txBox="1"/>
          <p:nvPr>
            <p:ph type="title"/>
          </p:nvPr>
        </p:nvSpPr>
        <p:spPr>
          <a:xfrm>
            <a:off x="691350" y="546500"/>
            <a:ext cx="7931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"/>
              <a:buNone/>
            </a:pPr>
            <a:r>
              <a:rPr lang="ru"/>
              <a:t>Карта внимания до встречи агентов</a:t>
            </a:r>
            <a:endParaRPr/>
          </a:p>
        </p:txBody>
      </p:sp>
      <p:sp>
        <p:nvSpPr>
          <p:cNvPr id="844" name="Google Shape;844;p100"/>
          <p:cNvSpPr txBox="1"/>
          <p:nvPr/>
        </p:nvSpPr>
        <p:spPr>
          <a:xfrm>
            <a:off x="691350" y="1093775"/>
            <a:ext cx="810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Тут показано то, как выглядит память агентов после встречи.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Явный шаблон не видно, но вроде обратила внимание на память в ячейке 6 и 8.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Google Shape;845;p100"/>
          <p:cNvSpPr txBox="1"/>
          <p:nvPr>
            <p:ph idx="12" type="sldNum"/>
          </p:nvPr>
        </p:nvSpPr>
        <p:spPr>
          <a:xfrm>
            <a:off x="6144445" y="4846340"/>
            <a:ext cx="45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6" name="Google Shape;846;p100"/>
          <p:cNvSpPr txBox="1"/>
          <p:nvPr/>
        </p:nvSpPr>
        <p:spPr>
          <a:xfrm>
            <a:off x="4080575" y="1904150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1 (синий)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7" name="Google Shape;847;p100"/>
          <p:cNvSpPr txBox="1"/>
          <p:nvPr/>
        </p:nvSpPr>
        <p:spPr>
          <a:xfrm>
            <a:off x="4100363" y="3335813"/>
            <a:ext cx="50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Агент 2 (красный)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8" name="Google Shape;84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150" y="2150450"/>
            <a:ext cx="4969326" cy="122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163" y="3584675"/>
            <a:ext cx="4969299" cy="12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401" y="1904150"/>
            <a:ext cx="3534215" cy="29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summer_school_2024">
      <a:dk1>
        <a:srgbClr val="000000"/>
      </a:dk1>
      <a:lt1>
        <a:srgbClr val="FFFFFF"/>
      </a:lt1>
      <a:dk2>
        <a:srgbClr val="44546A"/>
      </a:dk2>
      <a:lt2>
        <a:srgbClr val="F6F2EC"/>
      </a:lt2>
      <a:accent1>
        <a:srgbClr val="2DBEAC"/>
      </a:accent1>
      <a:accent2>
        <a:srgbClr val="525EEA"/>
      </a:accent2>
      <a:accent3>
        <a:srgbClr val="FBD800"/>
      </a:accent3>
      <a:accent4>
        <a:srgbClr val="B9D0FE"/>
      </a:accent4>
      <a:accent5>
        <a:srgbClr val="D0A583"/>
      </a:accent5>
      <a:accent6>
        <a:srgbClr val="E6D5C4"/>
      </a:accent6>
      <a:hlink>
        <a:srgbClr val="3ECFB9"/>
      </a:hlink>
      <a:folHlink>
        <a:srgbClr val="2DBE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AIRI presentation">
  <a:themeElements>
    <a:clrScheme name="Custom 1">
      <a:dk1>
        <a:srgbClr val="111111"/>
      </a:dk1>
      <a:lt1>
        <a:srgbClr val="FFFFFF"/>
      </a:lt1>
      <a:dk2>
        <a:srgbClr val="445469"/>
      </a:dk2>
      <a:lt2>
        <a:srgbClr val="F6F2EC"/>
      </a:lt2>
      <a:accent1>
        <a:srgbClr val="2CBEAC"/>
      </a:accent1>
      <a:accent2>
        <a:srgbClr val="515EEA"/>
      </a:accent2>
      <a:accent3>
        <a:srgbClr val="FBD826"/>
      </a:accent3>
      <a:accent4>
        <a:srgbClr val="B9D0FE"/>
      </a:accent4>
      <a:accent5>
        <a:srgbClr val="D0A583"/>
      </a:accent5>
      <a:accent6>
        <a:srgbClr val="E6D5C3"/>
      </a:accent6>
      <a:hlink>
        <a:srgbClr val="3ECFB9"/>
      </a:hlink>
      <a:folHlink>
        <a:srgbClr val="2CBE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